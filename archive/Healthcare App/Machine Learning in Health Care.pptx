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7a4cd11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7a4cd11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7a4cd11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7a4cd11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bd9fbb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0bd9fbb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c4663e83aa6cb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c4663e83aa6cb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c4663e83aa6cb1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c4663e83aa6cb1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7a4cd11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7a4cd11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7a4cd11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7a4cd11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7a4cd112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7a4cd11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7a4cd112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7a4cd11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c4663e83aa6cb1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c4663e83aa6cb1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dee1bd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dee1bd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1fbac1b30e8043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1fbac1b30e8043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044b525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3044b525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9646b94ed3143c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79646b94ed3143c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044b525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044b525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">
  <p:cSld name="AUTO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3341300" y="314875"/>
            <a:ext cx="5486400" cy="45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341300" y="314875"/>
            <a:ext cx="5486400" cy="11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348300" y="428200"/>
            <a:ext cx="2351400" cy="43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3539325" y="593900"/>
            <a:ext cx="5090400" cy="4011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/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  <a:defRPr sz="1400">
                <a:solidFill>
                  <a:srgbClr val="666666"/>
                </a:solidFill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○"/>
              <a:defRPr sz="1200">
                <a:solidFill>
                  <a:srgbClr val="666666"/>
                </a:solidFill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■"/>
              <a:defRPr sz="1200">
                <a:solidFill>
                  <a:srgbClr val="666666"/>
                </a:solidFill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  <a:defRPr sz="1200">
                <a:solidFill>
                  <a:srgbClr val="666666"/>
                </a:solidFill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○"/>
              <a:defRPr sz="1200">
                <a:solidFill>
                  <a:srgbClr val="666666"/>
                </a:solidFill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■"/>
              <a:defRPr sz="1200">
                <a:solidFill>
                  <a:srgbClr val="666666"/>
                </a:solidFill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●"/>
              <a:defRPr sz="1200">
                <a:solidFill>
                  <a:srgbClr val="666666"/>
                </a:solidFill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200"/>
              <a:buChar char="○"/>
              <a:defRPr sz="1200">
                <a:solidFill>
                  <a:srgbClr val="666666"/>
                </a:solidFill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666666"/>
              </a:buClr>
              <a:buSzPts val="1200"/>
              <a:buChar char="■"/>
              <a:defRPr sz="12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1pPr>
            <a:lvl2pPr lvl="1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2pPr>
            <a:lvl3pPr lvl="2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3pPr>
            <a:lvl4pPr lvl="3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4pPr>
            <a:lvl5pPr lvl="4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5pPr>
            <a:lvl6pPr lvl="5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6pPr>
            <a:lvl7pPr lvl="6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7pPr>
            <a:lvl8pPr lvl="7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8pPr>
            <a:lvl9pPr lvl="8" rtl="0"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ypi.python.org/pypi/coremltool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raw.githubusercontent.com/martinmitrevski/TextRecognizer/master/TextRecognizer/Alphanum_28x28.mlmodel" TargetMode="External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hyperlink" Target="https://en.wikipedia.org/wiki/Gamificatio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artinmitrevski.com/2017/10/19/text-recognition-using-vision-and-coreml/" TargetMode="External"/><Relationship Id="rId4" Type="http://schemas.openxmlformats.org/officeDocument/2006/relationships/hyperlink" Target="https://en.m.wikipedia.org/wiki/Convolutional_neural_network" TargetMode="External"/><Relationship Id="rId5" Type="http://schemas.openxmlformats.org/officeDocument/2006/relationships/hyperlink" Target="https://en.wikipedia.org/wiki/Gamification" TargetMode="External"/><Relationship Id="rId6" Type="http://schemas.openxmlformats.org/officeDocument/2006/relationships/hyperlink" Target="https://developer.apple.com/documentation/coreml" TargetMode="External"/><Relationship Id="rId7" Type="http://schemas.openxmlformats.org/officeDocument/2006/relationships/hyperlink" Target="https://developer.apple.com/documentation/coreml/converting_trained_models_to_core_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 Health Care App</a:t>
            </a:r>
            <a:endParaRPr/>
          </a:p>
        </p:txBody>
      </p:sp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729450" y="3134800"/>
            <a:ext cx="70080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Niranjan Kumar, Prithvi, Venkata Ramana, Vignesh Baalaji</a:t>
            </a:r>
            <a:r>
              <a:rPr lang="en"/>
              <a:t>, Bharatvaj 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29450" y="4024630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Mentor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Prof.M </a:t>
            </a:r>
            <a:r>
              <a:rPr lang="en">
                <a:solidFill>
                  <a:schemeClr val="accent1"/>
                </a:solidFill>
              </a:rPr>
              <a:t>Somasundaram B.E.,M.Tech.,(Ph.D.)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Implementation of ML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29450" y="2072575"/>
            <a:ext cx="7315200" cy="29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The following three phases are the phases in ML in terms of implementation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Selection of model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Training the model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Using the model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In Core ML of iOS 11 , we can use a trained model. A trained model is the result of applying a machine learning algorithm to a set of training data. The model makes predictions based on the implementation of ML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However it is suggested that models and training the model (i.e. developing training dataset) can be developed using ‘third-party tools’ and imported into CoreML using some converters.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The list of such models and third party tools are as given in the next slide.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CoreML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729450" y="3626509"/>
            <a:ext cx="7315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With Core ML, we can integrate trained machine learning models into our app.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Core ML is the foundation for domain-specific frameworks and functionality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39" y="2153342"/>
            <a:ext cx="4176801" cy="1173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If your model is created and trained using a supported third-party machine learning tool, you can use </a:t>
            </a:r>
            <a:r>
              <a:rPr lang="en">
                <a:solidFill>
                  <a:srgbClr val="0070C9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Core ML Tools</a:t>
            </a:r>
            <a:r>
              <a:rPr lang="en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 convert it to the Core ML model format. The list of the supported models and third-party tools are in the next slide.</a:t>
            </a:r>
            <a:endParaRPr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2947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AFAFA"/>
                </a:highlight>
                <a:latin typeface="Arial"/>
                <a:ea typeface="Arial"/>
                <a:cs typeface="Arial"/>
                <a:sym typeface="Arial"/>
              </a:rPr>
              <a:t>Note</a:t>
            </a:r>
            <a:endParaRPr>
              <a:solidFill>
                <a:srgbClr val="333333"/>
              </a:solidFill>
              <a:highlight>
                <a:srgbClr val="FAFA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highlight>
                  <a:srgbClr val="FAFAFA"/>
                </a:highlight>
                <a:latin typeface="Arial"/>
                <a:ea typeface="Arial"/>
                <a:cs typeface="Arial"/>
                <a:sym typeface="Arial"/>
              </a:rPr>
              <a:t>Core ML Tools is a Python package (</a:t>
            </a:r>
            <a:r>
              <a:rPr lang="en">
                <a:solidFill>
                  <a:srgbClr val="333333"/>
                </a:solidFill>
                <a:highlight>
                  <a:srgbClr val="FAFAFA"/>
                </a:highlight>
                <a:latin typeface="Verdana"/>
                <a:ea typeface="Verdana"/>
                <a:cs typeface="Verdana"/>
                <a:sym typeface="Verdana"/>
              </a:rPr>
              <a:t>coremltools</a:t>
            </a:r>
            <a:r>
              <a:rPr lang="en">
                <a:solidFill>
                  <a:srgbClr val="333333"/>
                </a:solidFill>
                <a:highlight>
                  <a:srgbClr val="FAFAFA"/>
                </a:highlight>
                <a:latin typeface="Arial"/>
                <a:ea typeface="Arial"/>
                <a:cs typeface="Arial"/>
                <a:sym typeface="Arial"/>
              </a:rPr>
              <a:t>), hosted at the Python Package Index (PyPI). </a:t>
            </a:r>
            <a:endParaRPr>
              <a:solidFill>
                <a:srgbClr val="333333"/>
              </a:solidFill>
              <a:highlight>
                <a:srgbClr val="FAFAF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ML Layers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750650" y="1821184"/>
            <a:ext cx="3667500" cy="27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Core ML is a high level </a:t>
            </a:r>
            <a:r>
              <a:rPr lang="en">
                <a:solidFill>
                  <a:srgbClr val="000000"/>
                </a:solidFill>
              </a:rPr>
              <a:t>abstraction that is built on top of Accelerate, BNNS and MPSCNN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Accelerate and Basic Neural Network Subroutines (BNNS) – Efficiently utilize </a:t>
            </a:r>
            <a:r>
              <a:rPr b="1" lang="en">
                <a:solidFill>
                  <a:srgbClr val="000000"/>
                </a:solidFill>
              </a:rPr>
              <a:t>CPU</a:t>
            </a:r>
            <a:r>
              <a:rPr lang="en">
                <a:solidFill>
                  <a:srgbClr val="000000"/>
                </a:solidFill>
              </a:rPr>
              <a:t> for predictions using Convolutional Neural Networks.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Metal Performance Shaders CNN (MPSCNN) – Efficiently utilize </a:t>
            </a:r>
            <a:r>
              <a:rPr b="1" lang="en">
                <a:solidFill>
                  <a:srgbClr val="000000"/>
                </a:solidFill>
              </a:rPr>
              <a:t>GPU</a:t>
            </a:r>
            <a:r>
              <a:rPr lang="en">
                <a:solidFill>
                  <a:srgbClr val="000000"/>
                </a:solidFill>
              </a:rPr>
              <a:t> for predictions using Convolutional Neural Networks.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297975"/>
            <a:ext cx="3667476" cy="18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ML Supported Models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following models are supported in Core ML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Deep Neural Networks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Recurrent </a:t>
            </a:r>
            <a:r>
              <a:rPr lang="en">
                <a:solidFill>
                  <a:srgbClr val="000000"/>
                </a:solidFill>
              </a:rPr>
              <a:t>Neural Networks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Convolutional Neural Networks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Support Vector Machines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Tree Ensembles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Linear Models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models from Frameworks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1853850"/>
            <a:ext cx="7688700" cy="17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Currently Core ML </a:t>
            </a:r>
            <a:r>
              <a:rPr lang="en">
                <a:solidFill>
                  <a:srgbClr val="000000"/>
                </a:solidFill>
              </a:rPr>
              <a:t>supports importing  model from other frameworks. The following vendors are supported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Caffe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Scikit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LIBSVM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Keras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615850" y="3983100"/>
            <a:ext cx="7802400" cy="7527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i="1" lang="en" sz="1000">
                <a:solidFill>
                  <a:srgbClr val="669933"/>
                </a:solidFill>
                <a:latin typeface="Roboto Mono"/>
                <a:ea typeface="Roboto Mono"/>
                <a:cs typeface="Roboto Mono"/>
                <a:sym typeface="Roboto Mono"/>
              </a:rPr>
              <a:t>#!/usr/bin/env python3</a:t>
            </a:r>
            <a:br>
              <a:rPr lang="en" sz="10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import </a:t>
            </a:r>
            <a:r>
              <a:rPr lang="en" sz="1000">
                <a:solidFill>
                  <a:srgbClr val="00AAAA"/>
                </a:solidFill>
                <a:latin typeface="Roboto Mono"/>
                <a:ea typeface="Roboto Mono"/>
                <a:cs typeface="Roboto Mono"/>
                <a:sym typeface="Roboto Mono"/>
              </a:rPr>
              <a:t>coremltools</a:t>
            </a: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en" sz="10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coreml_model = coremltools.converters.caffe.convert(‘caffe_model.caffemodel’)</a:t>
            </a:r>
            <a:endParaRPr i="1" sz="1000">
              <a:solidFill>
                <a:srgbClr val="AEAEA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615850" y="3632401"/>
            <a:ext cx="7315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Python model conversion using coremltools</a:t>
            </a:r>
            <a:endParaRPr b="1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Recognition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750" y="1193250"/>
            <a:ext cx="3802124" cy="36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825500" y="2210125"/>
            <a:ext cx="3689400" cy="28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" sz="1300">
                <a:latin typeface="Lato"/>
                <a:ea typeface="Lato"/>
                <a:cs typeface="Lato"/>
                <a:sym typeface="Lato"/>
              </a:rPr>
              <a:t>implementation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 consists of two steps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The selection and  training of model is done. Then the model is created in a machine learning framework. It has to be converted to Apple’s Core ML format.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AutoNum type="arabicPeriod"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After we have the model, the second step is the iOS integration. Developers can easily integrate the Core ML model and focus on the app development.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825500" y="1790450"/>
            <a:ext cx="2306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Using Vision API and Core ML</a:t>
            </a:r>
            <a:endParaRPr b="1"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capture using Vision API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729450" y="3200400"/>
            <a:ext cx="76887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b="1" lang="en">
                <a:solidFill>
                  <a:srgbClr val="000000"/>
                </a:solidFill>
              </a:rPr>
              <a:t>Vision </a:t>
            </a:r>
            <a:r>
              <a:rPr lang="en">
                <a:solidFill>
                  <a:srgbClr val="000000"/>
                </a:solidFill>
              </a:rPr>
              <a:t>we can easily use the camera interface and obtain grayscale frames from it.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Vision </a:t>
            </a:r>
            <a:r>
              <a:rPr lang="en">
                <a:solidFill>
                  <a:srgbClr val="000000"/>
                </a:solidFill>
              </a:rPr>
              <a:t>being native to iOS, we can easily integrate the </a:t>
            </a:r>
            <a:r>
              <a:rPr lang="en">
                <a:solidFill>
                  <a:srgbClr val="000000"/>
                </a:solidFill>
              </a:rPr>
              <a:t>two frameworks.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000000"/>
                </a:solidFill>
              </a:rPr>
              <a:t>Here we are using the </a:t>
            </a:r>
            <a:r>
              <a:rPr lang="en" u="sng">
                <a:solidFill>
                  <a:srgbClr val="000000"/>
                </a:solidFill>
                <a:hlinkClick r:id="rId3"/>
              </a:rPr>
              <a:t>Alphanum_28x28</a:t>
            </a:r>
            <a:r>
              <a:rPr lang="en">
                <a:solidFill>
                  <a:srgbClr val="000000"/>
                </a:solidFill>
              </a:rPr>
              <a:t> which is a trained </a:t>
            </a:r>
            <a:r>
              <a:rPr b="1" lang="en">
                <a:solidFill>
                  <a:srgbClr val="000000"/>
                </a:solidFill>
              </a:rPr>
              <a:t>Convolutional neural network</a:t>
            </a:r>
            <a:r>
              <a:rPr lang="en">
                <a:solidFill>
                  <a:srgbClr val="000000"/>
                </a:solidFill>
              </a:rPr>
              <a:t> model which has already been trained with numerous grayscale text images.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064825"/>
            <a:ext cx="7497951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466350" y="1372550"/>
            <a:ext cx="2358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466350" y="20237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Optimized for on-device performance, which minimizes memory footprint and power consumption.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On-device means privacy of user data, you no longer need to send data to your servers to make predictions.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On-Device means functional predictions even without an internet connection and a less response time to the user.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It decides for itself whether to run the model on the CPU or the GPU (or both).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Because it can use CPU, you can run it on the iOS simulator (which doesn’t support GPU).</a:t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158" name="Google Shape;158;p23"/>
          <p:cNvSpPr txBox="1"/>
          <p:nvPr>
            <p:ph idx="2" type="body"/>
          </p:nvPr>
        </p:nvSpPr>
        <p:spPr>
          <a:xfrm>
            <a:off x="5008854" y="20237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Native support for Supervised models only doesn’t have support for unsupervised or reinforcement learning.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No training on the device, only inference(prediction).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If CoreML does not support a certain layer type, you can’t use it. Currently impossible to extend Core ML with your own layer types.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Core ML conversion tools only support specific versions of a limited number of training tools. 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You cannot look at the output produced by intermediate layers, you only get the prediction.</a:t>
            </a:r>
            <a:endParaRPr sz="1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058950" y="1372550"/>
            <a:ext cx="3502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Raleway"/>
                <a:ea typeface="Raleway"/>
                <a:cs typeface="Raleway"/>
                <a:sym typeface="Raleway"/>
              </a:rPr>
              <a:t>Cons</a:t>
            </a:r>
            <a:endParaRPr b="1" sz="2600"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60" name="Google Shape;160;p23"/>
          <p:cNvCxnSpPr>
            <a:endCxn id="161" idx="0"/>
          </p:cNvCxnSpPr>
          <p:nvPr/>
        </p:nvCxnSpPr>
        <p:spPr>
          <a:xfrm>
            <a:off x="4507350" y="1231250"/>
            <a:ext cx="3300" cy="2432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-3177" r="0" t="0"/>
          <a:stretch/>
        </p:blipFill>
        <p:spPr>
          <a:xfrm>
            <a:off x="3816163" y="3663950"/>
            <a:ext cx="1388975" cy="13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of our app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An aesthetic User Interface has been created for good user experience.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The UI has a browse button 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On clicking it, the app browses images from the gallery.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Using Core ML,the image has been segmented and the text has been recognized.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The inference of the Core ML is displayed in the UI.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786850" y="2207788"/>
            <a:ext cx="4865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User Interface contains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ImageView </a:t>
            </a:r>
            <a:r>
              <a:rPr lang="en"/>
              <a:t>	</a:t>
            </a:r>
            <a:r>
              <a:rPr lang="en">
                <a:solidFill>
                  <a:srgbClr val="000000"/>
                </a:solidFill>
              </a:rPr>
              <a:t>- displaying the selected image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Label </a:t>
            </a:r>
            <a:r>
              <a:rPr lang="en">
                <a:solidFill>
                  <a:srgbClr val="B7B7B7"/>
                </a:solidFill>
              </a:rPr>
              <a:t>		</a:t>
            </a:r>
            <a:r>
              <a:rPr lang="en">
                <a:solidFill>
                  <a:srgbClr val="000000"/>
                </a:solidFill>
              </a:rPr>
              <a:t>- showing the inference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Button</a:t>
            </a:r>
            <a:r>
              <a:rPr lang="en">
                <a:solidFill>
                  <a:srgbClr val="000000"/>
                </a:solidFill>
              </a:rPr>
              <a:t>	- to browse for the images from Photos</a:t>
            </a:r>
            <a:r>
              <a:rPr baseline="30000" lang="en">
                <a:solidFill>
                  <a:srgbClr val="000000"/>
                </a:solidFill>
              </a:rPr>
              <a:t>TM</a:t>
            </a:r>
            <a:endParaRPr baseline="30000">
              <a:solidFill>
                <a:srgbClr val="000000"/>
              </a:solidFill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 rotWithShape="1">
          <a:blip r:embed="rId3">
            <a:alphaModFix/>
          </a:blip>
          <a:srcRect b="19178" l="0" r="0" t="0"/>
          <a:stretch/>
        </p:blipFill>
        <p:spPr>
          <a:xfrm>
            <a:off x="904900" y="2078875"/>
            <a:ext cx="1769250" cy="25189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75" name="Google Shape;175;p25"/>
          <p:cNvCxnSpPr/>
          <p:nvPr/>
        </p:nvCxnSpPr>
        <p:spPr>
          <a:xfrm flipH="1" rot="10800000">
            <a:off x="2035975" y="3953100"/>
            <a:ext cx="851700" cy="2229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5"/>
          <p:cNvSpPr txBox="1"/>
          <p:nvPr/>
        </p:nvSpPr>
        <p:spPr>
          <a:xfrm>
            <a:off x="2824013" y="3771475"/>
            <a:ext cx="10359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PREDICTED TEXT</a:t>
            </a:r>
            <a:endParaRPr sz="800"/>
          </a:p>
        </p:txBody>
      </p:sp>
      <p:sp>
        <p:nvSpPr>
          <p:cNvPr id="177" name="Google Shape;177;p25"/>
          <p:cNvSpPr txBox="1"/>
          <p:nvPr/>
        </p:nvSpPr>
        <p:spPr>
          <a:xfrm>
            <a:off x="2821900" y="2759950"/>
            <a:ext cx="817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IMAGE TO BE PREDICTED</a:t>
            </a:r>
            <a:endParaRPr sz="800"/>
          </a:p>
        </p:txBody>
      </p:sp>
      <p:cxnSp>
        <p:nvCxnSpPr>
          <p:cNvPr id="178" name="Google Shape;178;p25"/>
          <p:cNvCxnSpPr>
            <a:endCxn id="177" idx="1"/>
          </p:cNvCxnSpPr>
          <p:nvPr/>
        </p:nvCxnSpPr>
        <p:spPr>
          <a:xfrm>
            <a:off x="2359600" y="3014350"/>
            <a:ext cx="462300" cy="13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ML with Patient Health Care</a:t>
            </a:r>
            <a:endParaRPr/>
          </a:p>
        </p:txBody>
      </p:sp>
      <p:pic>
        <p:nvPicPr>
          <p:cNvPr id="184" name="Google Shape;1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378" y="1912550"/>
            <a:ext cx="2792824" cy="30368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185" name="Google Shape;185;p26"/>
          <p:cNvCxnSpPr/>
          <p:nvPr/>
        </p:nvCxnSpPr>
        <p:spPr>
          <a:xfrm>
            <a:off x="1489950" y="2524813"/>
            <a:ext cx="2750100" cy="57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186" name="Google Shape;18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8425" y="2605313"/>
            <a:ext cx="542925" cy="409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7" name="Google Shape;187;p26"/>
          <p:cNvSpPr txBox="1"/>
          <p:nvPr/>
        </p:nvSpPr>
        <p:spPr>
          <a:xfrm>
            <a:off x="4382650" y="2857675"/>
            <a:ext cx="45651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Using Core ML in Patient Health Care App, we can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predict and display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the heal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th of the user by showing the user a health percentage or health bar.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4382650" y="3864175"/>
            <a:ext cx="45651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An attempt to </a:t>
            </a:r>
            <a:r>
              <a:rPr b="1"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gamify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the process.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5625550" y="4618675"/>
            <a:ext cx="3322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7B7B7"/>
                </a:solidFill>
                <a:highlight>
                  <a:srgbClr val="F9F9F9"/>
                </a:highlight>
              </a:rPr>
              <a:t>⚠ The image is concept art of the implementation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 Feeds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90400"/>
            <a:ext cx="1921952" cy="2984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6" name="Google Shape;196;p27"/>
          <p:cNvSpPr txBox="1"/>
          <p:nvPr/>
        </p:nvSpPr>
        <p:spPr>
          <a:xfrm>
            <a:off x="3019525" y="2231575"/>
            <a:ext cx="4565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By using Core ML , we eliminate the process of asking the user for their personal health records ,but instead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predict patient’s health condition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by certain factors such as health percentage, weight, allergies, etc.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3019525" y="3515475"/>
            <a:ext cx="45651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Thus educating the user for what is required rather than what they think is required.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5625550" y="4618675"/>
            <a:ext cx="3322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B7B7B7"/>
                </a:solidFill>
                <a:highlight>
                  <a:srgbClr val="F9F9F9"/>
                </a:highlight>
              </a:rPr>
              <a:t>⚠ The image is concept art of the implementation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48300" y="428200"/>
            <a:ext cx="2351400" cy="4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References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539325" y="593900"/>
            <a:ext cx="5090400" cy="40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https://martinmitrevski.com/2017/10/19/text-recognition-using-vision-and-coreml/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https://en.m.wikipedia.org/wiki/Convolutional_neural_network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https://en.wikipedia.org/wiki/Gamification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https://developer.apple.com/documentation/coreml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https://developer.apple.com/documentation/coreml/converting_trained_models_to_core_ml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806900" y="1611850"/>
            <a:ext cx="27435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watching!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806900" y="3350475"/>
            <a:ext cx="38691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“</a:t>
            </a:r>
            <a:r>
              <a:rPr i="1" lang="en" sz="135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Our method was to develop integrated products, and that meant our process had to be integrated and collaborative</a:t>
            </a:r>
            <a:r>
              <a:rPr i="1" lang="en" sz="18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”</a:t>
            </a:r>
            <a:endParaRPr i="1" sz="1800">
              <a:solidFill>
                <a:srgbClr val="999999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666666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Steve Jobs</a:t>
            </a:r>
            <a:endParaRPr b="1" sz="1350">
              <a:solidFill>
                <a:srgbClr val="666666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1" name="Google Shape;211;p29"/>
          <p:cNvPicPr preferRelativeResize="0"/>
          <p:nvPr/>
        </p:nvPicPr>
        <p:blipFill rotWithShape="1">
          <a:blip r:embed="rId3">
            <a:alphaModFix/>
          </a:blip>
          <a:srcRect b="-1020" l="15841" r="34671" t="1020"/>
          <a:stretch/>
        </p:blipFill>
        <p:spPr>
          <a:xfrm>
            <a:off x="4997700" y="471809"/>
            <a:ext cx="4146299" cy="4719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