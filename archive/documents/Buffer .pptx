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9" r:id="rId9"/>
    <p:sldId id="264" r:id="rId10"/>
    <p:sldId id="271" r:id="rId11"/>
    <p:sldId id="275" r:id="rId12"/>
    <p:sldId id="276" r:id="rId13"/>
    <p:sldId id="263" r:id="rId14"/>
    <p:sldId id="266" r:id="rId15"/>
    <p:sldId id="268" r:id="rId16"/>
    <p:sldId id="267" r:id="rId17"/>
    <p:sldId id="273" r:id="rId18"/>
    <p:sldId id="277" r:id="rId19"/>
    <p:sldId id="278" r:id="rId20"/>
    <p:sldId id="280" r:id="rId21"/>
    <p:sldId id="281" r:id="rId22"/>
    <p:sldId id="282" r:id="rId23"/>
    <p:sldId id="283" r:id="rId24"/>
    <p:sldId id="284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662" autoAdjust="0"/>
  </p:normalViewPr>
  <p:slideViewPr>
    <p:cSldViewPr>
      <p:cViewPr varScale="1">
        <p:scale>
          <a:sx n="70" d="100"/>
          <a:sy n="70" d="100"/>
        </p:scale>
        <p:origin x="-137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7E1B9-77DF-429F-AAAD-0DA70C4B5C28}" type="datetimeFigureOut">
              <a:rPr lang="en-IN" smtClean="0"/>
              <a:t>16-03-2017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24F04-ADA9-40C1-8B29-E43CA7D63F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403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924F04-ADA9-40C1-8B29-E43CA7D63FA5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605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7573-06FD-43B4-A2EA-C52939341343}" type="datetimeFigureOut">
              <a:rPr lang="en-IN" smtClean="0"/>
              <a:t>16-03-2017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3FF8-FDC2-430E-95A3-A5FDA7BBBEF2}" type="slidenum">
              <a:rPr lang="en-IN" smtClean="0"/>
              <a:t>‹#›</a:t>
            </a:fld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7573-06FD-43B4-A2EA-C52939341343}" type="datetimeFigureOut">
              <a:rPr lang="en-IN" smtClean="0"/>
              <a:t>16-03-2017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3FF8-FDC2-430E-95A3-A5FDA7BBBEF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7573-06FD-43B4-A2EA-C52939341343}" type="datetimeFigureOut">
              <a:rPr lang="en-IN" smtClean="0"/>
              <a:t>16-03-2017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3FF8-FDC2-430E-95A3-A5FDA7BBBEF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7573-06FD-43B4-A2EA-C52939341343}" type="datetimeFigureOut">
              <a:rPr lang="en-IN" smtClean="0"/>
              <a:t>16-03-2017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3FF8-FDC2-430E-95A3-A5FDA7BBBEF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7573-06FD-43B4-A2EA-C52939341343}" type="datetimeFigureOut">
              <a:rPr lang="en-IN" smtClean="0"/>
              <a:t>16-03-2017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3FF8-FDC2-430E-95A3-A5FDA7BBBEF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7573-06FD-43B4-A2EA-C52939341343}" type="datetimeFigureOut">
              <a:rPr lang="en-IN" smtClean="0"/>
              <a:t>16-03-2017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3FF8-FDC2-430E-95A3-A5FDA7BBBEF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7573-06FD-43B4-A2EA-C52939341343}" type="datetimeFigureOut">
              <a:rPr lang="en-IN" smtClean="0"/>
              <a:t>16-03-2017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3FF8-FDC2-430E-95A3-A5FDA7BBBEF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7573-06FD-43B4-A2EA-C52939341343}" type="datetimeFigureOut">
              <a:rPr lang="en-IN" smtClean="0"/>
              <a:t>16-03-2017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3FF8-FDC2-430E-95A3-A5FDA7BBBEF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7573-06FD-43B4-A2EA-C52939341343}" type="datetimeFigureOut">
              <a:rPr lang="en-IN" smtClean="0"/>
              <a:t>16-03-2017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3FF8-FDC2-430E-95A3-A5FDA7BBBEF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7573-06FD-43B4-A2EA-C52939341343}" type="datetimeFigureOut">
              <a:rPr lang="en-IN" smtClean="0"/>
              <a:t>16-03-2017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3FF8-FDC2-430E-95A3-A5FDA7BBBEF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7573-06FD-43B4-A2EA-C52939341343}" type="datetimeFigureOut">
              <a:rPr lang="en-IN" smtClean="0"/>
              <a:t>16-03-2017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3FF8-FDC2-430E-95A3-A5FDA7BBBEF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872F7573-06FD-43B4-A2EA-C52939341343}" type="datetimeFigureOut">
              <a:rPr lang="en-IN" smtClean="0"/>
              <a:t>16-03-2017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5AE93FF8-FDC2-430E-95A3-A5FDA7BBBEF2}" type="slidenum">
              <a:rPr lang="en-IN" smtClean="0"/>
              <a:t>‹#›</a:t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Document1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Document2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9600" dirty="0" smtClean="0"/>
              <a:t/>
            </a:r>
            <a:br>
              <a:rPr lang="en-US" altLang="en-US" sz="9600" dirty="0" smtClean="0"/>
            </a:br>
            <a:r>
              <a:rPr lang="en-US" altLang="en-US" sz="9600" dirty="0"/>
              <a:t/>
            </a:r>
            <a:br>
              <a:rPr lang="en-US" altLang="en-US" sz="9600" dirty="0"/>
            </a:br>
            <a:r>
              <a:rPr lang="en-US" altLang="en-US" sz="9600" dirty="0" smtClean="0"/>
              <a:t/>
            </a:r>
            <a:br>
              <a:rPr lang="en-US" altLang="en-US" sz="9600" dirty="0" smtClean="0"/>
            </a:br>
            <a:r>
              <a:rPr lang="en-US" altLang="en-US" sz="9600" dirty="0"/>
              <a:t/>
            </a:r>
            <a:br>
              <a:rPr lang="en-US" altLang="en-US" sz="9600" dirty="0"/>
            </a:br>
            <a:r>
              <a:rPr lang="en-US" altLang="en-US" sz="9600" dirty="0" smtClean="0"/>
              <a:t>Buffer Overflows </a:t>
            </a:r>
            <a:endParaRPr lang="en-US" altLang="en-US" sz="9600" dirty="0"/>
          </a:p>
        </p:txBody>
      </p:sp>
    </p:spTree>
    <p:extLst>
      <p:ext uri="{BB962C8B-B14F-4D97-AF65-F5344CB8AC3E}">
        <p14:creationId xmlns:p14="http://schemas.microsoft.com/office/powerpoint/2010/main" val="1262298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5400" u="sng" dirty="0" smtClean="0"/>
              <a:t>B</a:t>
            </a:r>
            <a:r>
              <a:rPr lang="en-US" altLang="en-US" sz="4000" u="sng" dirty="0" smtClean="0"/>
              <a:t>UFFER</a:t>
            </a:r>
            <a:r>
              <a:rPr lang="en-US" altLang="en-US" sz="5400" u="sng" dirty="0" smtClean="0"/>
              <a:t> O</a:t>
            </a:r>
            <a:r>
              <a:rPr lang="en-US" altLang="en-US" sz="4400" u="sng" dirty="0" smtClean="0"/>
              <a:t>VERFLOWS</a:t>
            </a:r>
            <a:endParaRPr lang="en-IN" sz="44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sz="2800" dirty="0"/>
              <a:t>One of the most common </a:t>
            </a:r>
            <a:r>
              <a:rPr lang="en-US" altLang="en-US" sz="2800" dirty="0" smtClean="0"/>
              <a:t>vulnerability found </a:t>
            </a:r>
            <a:r>
              <a:rPr lang="en-US" altLang="en-US" sz="2800" dirty="0"/>
              <a:t>in </a:t>
            </a:r>
            <a:r>
              <a:rPr lang="en-US" altLang="en-US" sz="2800" dirty="0" smtClean="0"/>
              <a:t> a software.</a:t>
            </a:r>
            <a:endParaRPr lang="en-US" altLang="en-US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800" dirty="0"/>
              <a:t>Particularly problematic when present in system libraries and other code that runs with high execution privileges</a:t>
            </a:r>
            <a:r>
              <a:rPr lang="en-US" altLang="en-US" sz="28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800" dirty="0" smtClean="0"/>
              <a:t> </a:t>
            </a:r>
            <a:r>
              <a:rPr lang="en-AU" altLang="en-US" sz="2800" dirty="0" smtClean="0"/>
              <a:t>Still </a:t>
            </a:r>
            <a:r>
              <a:rPr lang="en-AU" altLang="en-US" sz="2800" dirty="0"/>
              <a:t>of major concern due to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AU" altLang="en-US" sz="2800" dirty="0" smtClean="0"/>
              <a:t>  legacy </a:t>
            </a:r>
            <a:r>
              <a:rPr lang="en-AU" altLang="en-US" sz="2800" dirty="0"/>
              <a:t>of widely deployed </a:t>
            </a:r>
            <a:r>
              <a:rPr lang="en-AU" altLang="en-US" sz="2800" dirty="0" smtClean="0"/>
              <a:t>buggy</a:t>
            </a:r>
            <a:endParaRPr lang="en-AU" altLang="en-US" sz="28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AU" altLang="en-US" sz="2800" dirty="0" smtClean="0"/>
              <a:t>  continued </a:t>
            </a:r>
            <a:r>
              <a:rPr lang="en-AU" altLang="en-US" sz="2800" dirty="0"/>
              <a:t>careless programming techniques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50895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01600">
              <a:schemeClr val="accent3">
                <a:lumMod val="75000"/>
                <a:alpha val="60000"/>
              </a:schemeClr>
            </a:glow>
            <a:reflection blurRad="6350" stA="50000" endA="295" endPos="92000" dist="101600" dir="5400000" sy="-100000" algn="bl" rotWithShape="0"/>
          </a:effectLst>
          <a:scene3d>
            <a:camera prst="perspectiveAbove"/>
            <a:lightRig rig="threePt" dir="t"/>
          </a:scene3d>
        </p:spPr>
        <p:txBody>
          <a:bodyPr>
            <a:noAutofit/>
          </a:bodyPr>
          <a:lstStyle/>
          <a:p>
            <a:pPr algn="ctr"/>
            <a:r>
              <a:rPr lang="en-IN" sz="8000" u="sng" spc="-15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ABSTRACT</a:t>
            </a:r>
            <a:endParaRPr lang="en-IN" sz="8000" u="sng" spc="-1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266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GB" altLang="en-US" sz="4400" u="sng" dirty="0"/>
              <a:t>Buffer Overflow Basics</a:t>
            </a:r>
            <a:endParaRPr lang="en-IN" sz="44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Caused </a:t>
            </a:r>
            <a:r>
              <a:rPr lang="en-US" altLang="en-US" sz="2400" dirty="0" smtClean="0"/>
              <a:t>due to  careless programming.</a:t>
            </a:r>
            <a:endParaRPr lang="en-US" altLang="en-US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 smtClean="0"/>
              <a:t>Allows </a:t>
            </a:r>
            <a:r>
              <a:rPr lang="en-US" altLang="en-US" sz="2400" dirty="0"/>
              <a:t>more data to be stored than </a:t>
            </a:r>
            <a:r>
              <a:rPr lang="en-US" altLang="en-US" sz="2400" dirty="0" smtClean="0"/>
              <a:t>capacity available </a:t>
            </a:r>
            <a:r>
              <a:rPr lang="en-US" altLang="en-US" sz="2400" dirty="0"/>
              <a:t>in a fixed sized </a:t>
            </a:r>
            <a:r>
              <a:rPr lang="en-US" altLang="en-US" sz="2400" dirty="0" smtClean="0"/>
              <a:t>buffer.</a:t>
            </a:r>
            <a:endParaRPr lang="en-US" altLang="en-US" sz="2400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/>
              <a:t>B</a:t>
            </a:r>
            <a:r>
              <a:rPr lang="en-US" altLang="en-US" sz="2400" dirty="0" smtClean="0"/>
              <a:t>uffer </a:t>
            </a:r>
            <a:r>
              <a:rPr lang="en-US" altLang="en-US" sz="2400" dirty="0"/>
              <a:t>can be </a:t>
            </a:r>
            <a:r>
              <a:rPr lang="en-US" altLang="en-US" sz="2400" dirty="0" smtClean="0"/>
              <a:t>on  STACK,HEAP,GLOBAL DATA</a:t>
            </a:r>
            <a:endParaRPr lang="en-US" altLang="en-US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Overwriting adjacent memory locations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/>
              <a:t>corruption of program data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/>
              <a:t>unexpected transfer of control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/>
              <a:t>memory access violation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/>
              <a:t>execution of code chosen by attacker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85710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6000" u="sng" dirty="0"/>
              <a:t>How it works</a:t>
            </a:r>
            <a:endParaRPr lang="en-IN" sz="60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Application reserves adjacent memory locations (buffer) to store arguments to a function, or variable values.</a:t>
            </a:r>
          </a:p>
          <a:p>
            <a:r>
              <a:rPr lang="en-US" altLang="en-US" sz="2400" dirty="0"/>
              <a:t>Attacker gives an argument too long to fit in the buffer.  </a:t>
            </a:r>
          </a:p>
          <a:p>
            <a:r>
              <a:rPr lang="en-US" altLang="en-US" sz="2400" dirty="0"/>
              <a:t>The application copies the whole argument, overflowing the buffer and overwriting memory space.</a:t>
            </a:r>
          </a:p>
          <a:p>
            <a:r>
              <a:rPr lang="en-US" altLang="en-US" sz="2400" dirty="0"/>
              <a:t>If the conditions are “just right” this will enable to attacker to </a:t>
            </a:r>
            <a:r>
              <a:rPr lang="en-US" altLang="en-US" sz="3200" b="1" dirty="0">
                <a:latin typeface="Agency FB" panose="020B0503020202020204" pitchFamily="34" charset="0"/>
              </a:rPr>
              <a:t>gain control over the program flow</a:t>
            </a:r>
            <a:r>
              <a:rPr lang="en-US" altLang="en-US" sz="3200" dirty="0">
                <a:latin typeface="Agency FB" panose="020B0503020202020204" pitchFamily="34" charset="0"/>
              </a:rPr>
              <a:t> and </a:t>
            </a:r>
            <a:r>
              <a:rPr lang="en-US" altLang="en-US" sz="3200" b="1" dirty="0">
                <a:latin typeface="Agency FB" panose="020B0503020202020204" pitchFamily="34" charset="0"/>
              </a:rPr>
              <a:t>execute arbitrary code</a:t>
            </a:r>
            <a:r>
              <a:rPr lang="en-US" altLang="en-US" sz="3200" dirty="0"/>
              <a:t>,</a:t>
            </a:r>
            <a:r>
              <a:rPr lang="en-US" altLang="en-US" sz="2400" dirty="0"/>
              <a:t> with the same privileges of the original </a:t>
            </a:r>
            <a:r>
              <a:rPr lang="en-US" altLang="en-US" sz="2400" dirty="0" smtClean="0"/>
              <a:t>application</a:t>
            </a:r>
            <a:r>
              <a:rPr lang="en-US" alt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1185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435280" cy="923702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u="sng" dirty="0" smtClean="0">
                <a:latin typeface="Comic Sans MS" pitchFamily="66" charset="0"/>
              </a:rPr>
              <a:t>Stack </a:t>
            </a:r>
            <a:r>
              <a:rPr lang="en-US" altLang="en-US" sz="4000" u="sng" dirty="0">
                <a:latin typeface="Comic Sans MS" pitchFamily="66" charset="0"/>
              </a:rPr>
              <a:t>Buffer Overflow Basics</a:t>
            </a:r>
            <a:endParaRPr lang="en-IN" sz="4000" u="sn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534380" y="1521981"/>
            <a:ext cx="3322712" cy="4602163"/>
          </a:xfrm>
        </p:spPr>
        <p:txBody>
          <a:bodyPr/>
          <a:lstStyle/>
          <a:p>
            <a:r>
              <a:rPr lang="en-IN" dirty="0" smtClean="0"/>
              <a:t>  </a:t>
            </a:r>
            <a:endParaRPr lang="en-IN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4294967295"/>
          </p:nvPr>
        </p:nvSpPr>
        <p:spPr>
          <a:xfrm>
            <a:off x="3635896" y="1196752"/>
            <a:ext cx="4860230" cy="4772993"/>
          </a:xfrm>
        </p:spPr>
        <p:txBody>
          <a:bodyPr/>
          <a:lstStyle/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           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7" descr="stack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4970" y="2132856"/>
            <a:ext cx="2171700" cy="2895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87948" y="1340768"/>
            <a:ext cx="1305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Lower Memory Addresses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2178070" y="5031283"/>
            <a:ext cx="1301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High Memory Addresses</a:t>
            </a:r>
            <a:endParaRPr lang="en-IN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omic Sans MS" pitchFamily="66" charset="0"/>
              </a:rPr>
              <a:t>A </a:t>
            </a:r>
            <a:r>
              <a:rPr lang="en-US" altLang="en-US" sz="1800" dirty="0">
                <a:latin typeface="Comic Sans MS" pitchFamily="66" charset="0"/>
              </a:rPr>
              <a:t>process in memory: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/>
              <a:t> </a:t>
            </a:r>
            <a:r>
              <a:rPr lang="en-US" altLang="en-US" sz="1800" dirty="0" smtClean="0"/>
              <a:t>       </a:t>
            </a:r>
            <a:r>
              <a:rPr lang="en-US" altLang="en-US" sz="1800" dirty="0" smtClean="0">
                <a:latin typeface="Comic Sans MS" pitchFamily="66" charset="0"/>
              </a:rPr>
              <a:t>- </a:t>
            </a:r>
            <a:r>
              <a:rPr lang="en-US" altLang="en-US" sz="1800" dirty="0">
                <a:latin typeface="Comic Sans MS" pitchFamily="66" charset="0"/>
              </a:rPr>
              <a:t>text (Program code; </a:t>
            </a:r>
            <a:endParaRPr lang="en-US" altLang="en-US" sz="1800" dirty="0" smtClean="0">
              <a:latin typeface="Comic Sans MS" pitchFamily="66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latin typeface="Comic Sans MS" pitchFamily="66" charset="0"/>
              </a:rPr>
              <a:t> </a:t>
            </a:r>
            <a:r>
              <a:rPr lang="en-US" altLang="en-US" sz="1800" dirty="0" smtClean="0">
                <a:latin typeface="Comic Sans MS" pitchFamily="66" charset="0"/>
              </a:rPr>
              <a:t>    marked read-only</a:t>
            </a:r>
            <a:r>
              <a:rPr lang="en-US" altLang="en-US" sz="1800" dirty="0">
                <a:latin typeface="Comic Sans MS" pitchFamily="66" charset="0"/>
              </a:rPr>
              <a:t>, so any attempts </a:t>
            </a:r>
            <a:r>
              <a:rPr lang="en-US" altLang="en-US" sz="1800" dirty="0" smtClean="0">
                <a:latin typeface="Comic Sans MS" pitchFamily="66" charset="0"/>
              </a:rPr>
              <a:t>to  </a:t>
            </a:r>
            <a:r>
              <a:rPr lang="en-US" altLang="en-US" sz="1800" dirty="0">
                <a:latin typeface="Comic Sans MS" pitchFamily="66" charset="0"/>
              </a:rPr>
              <a:t>write to it will result in </a:t>
            </a:r>
            <a:r>
              <a:rPr lang="en-US" altLang="en-US" sz="1800" dirty="0" smtClean="0">
                <a:latin typeface="Comic Sans MS" pitchFamily="66" charset="0"/>
              </a:rPr>
              <a:t>segmentation </a:t>
            </a:r>
            <a:r>
              <a:rPr lang="en-US" altLang="en-US" sz="1800" dirty="0">
                <a:latin typeface="Comic Sans MS" pitchFamily="66" charset="0"/>
              </a:rPr>
              <a:t>fault</a:t>
            </a:r>
            <a:r>
              <a:rPr lang="en-US" altLang="en-US" sz="1800" dirty="0" smtClean="0">
                <a:latin typeface="Comic Sans MS" pitchFamily="66" charset="0"/>
              </a:rPr>
              <a:t>).</a:t>
            </a:r>
            <a:endParaRPr lang="en-US" altLang="en-US" sz="1800" dirty="0">
              <a:latin typeface="Comic Sans MS" pitchFamily="66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latin typeface="Comic Sans MS" pitchFamily="66" charset="0"/>
              </a:rPr>
              <a:t>    - data segment (Global and     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latin typeface="Comic Sans MS" pitchFamily="66" charset="0"/>
              </a:rPr>
              <a:t>     </a:t>
            </a:r>
            <a:r>
              <a:rPr lang="en-US" altLang="en-US" sz="1800" dirty="0" smtClean="0">
                <a:latin typeface="Comic Sans MS" pitchFamily="66" charset="0"/>
              </a:rPr>
              <a:t>   </a:t>
            </a:r>
            <a:r>
              <a:rPr lang="en-US" altLang="en-US" sz="1800" dirty="0">
                <a:latin typeface="Comic Sans MS" pitchFamily="66" charset="0"/>
              </a:rPr>
              <a:t>static variables)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latin typeface="Comic Sans MS" pitchFamily="66" charset="0"/>
              </a:rPr>
              <a:t>    - stack (Dynamic variables</a:t>
            </a:r>
            <a:r>
              <a:rPr lang="en-US" altLang="en-US" sz="1800" dirty="0" smtClean="0">
                <a:latin typeface="Comic Sans MS" pitchFamily="66" charset="0"/>
              </a:rPr>
              <a:t>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latin typeface="Comic Sans MS" pitchFamily="66" charset="0"/>
              </a:rPr>
              <a:t>The </a:t>
            </a:r>
            <a:r>
              <a:rPr lang="en-US" altLang="en-US" sz="1800" dirty="0">
                <a:latin typeface="Comic Sans MS" pitchFamily="66" charset="0"/>
              </a:rPr>
              <a:t>process is blocked and is rescheduled to run again with a larger memory space if the user attack exhausts available memory.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en-US" sz="1800" dirty="0">
              <a:latin typeface="Comic Sans MS" pitchFamily="66" charset="0"/>
            </a:endParaRP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460721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275" y="274638"/>
            <a:ext cx="7924800" cy="1020762"/>
          </a:xfrm>
        </p:spPr>
        <p:txBody>
          <a:bodyPr/>
          <a:lstStyle/>
          <a:p>
            <a:pPr algn="ctr"/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 </a:t>
            </a:r>
            <a:r>
              <a:rPr lang="en-US" altLang="en-US" sz="4800" u="sng" dirty="0"/>
              <a:t/>
            </a:r>
            <a:br>
              <a:rPr lang="en-US" altLang="en-US" sz="4800" u="sng" dirty="0"/>
            </a:br>
            <a:r>
              <a:rPr lang="en-US" altLang="en-US" sz="4800" u="sng" dirty="0"/>
              <a:t>Stack smashing</a:t>
            </a:r>
            <a:endParaRPr lang="en-IN" sz="4800" u="sng" dirty="0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685800" y="0"/>
            <a:ext cx="77724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altLang="en-US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211960" y="1600200"/>
            <a:ext cx="3810000" cy="47244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US" altLang="en-US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800" dirty="0" smtClean="0"/>
              <a:t>Function (sub-routine) calls results in an </a:t>
            </a:r>
            <a:r>
              <a:rPr lang="en-US" altLang="en-US" sz="2800" i="1" dirty="0" smtClean="0"/>
              <a:t>activation frame</a:t>
            </a:r>
            <a:r>
              <a:rPr lang="en-US" altLang="en-US" sz="2800" dirty="0" smtClean="0"/>
              <a:t> being pushed onto a memory area called the </a:t>
            </a:r>
            <a:r>
              <a:rPr lang="en-US" altLang="en-US" sz="2800" i="1" dirty="0" smtClean="0"/>
              <a:t>stack</a:t>
            </a:r>
            <a:r>
              <a:rPr lang="en-US" altLang="en-US" sz="2800" dirty="0" smtClean="0"/>
              <a:t>.</a:t>
            </a:r>
            <a:endParaRPr lang="en-US" altLang="en-US" sz="2800" dirty="0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685800" y="1638300"/>
            <a:ext cx="3124200" cy="472440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685800" y="1600200"/>
            <a:ext cx="3124200" cy="45720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dirty="0"/>
              <a:t>&lt;previous stack frame&gt;</a:t>
            </a: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685800" y="2057400"/>
            <a:ext cx="3124200" cy="38100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dirty="0"/>
              <a:t>function arguments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685800" y="2438400"/>
            <a:ext cx="3124200" cy="45720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return address</a:t>
            </a: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685800" y="2895600"/>
            <a:ext cx="3124200" cy="45720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previous frame pointer</a:t>
            </a: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685800" y="3352800"/>
            <a:ext cx="3124200" cy="45720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local variables</a:t>
            </a:r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685800" y="3810000"/>
            <a:ext cx="3124200" cy="38100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local buffer variables</a:t>
            </a:r>
          </a:p>
        </p:txBody>
      </p:sp>
      <p:cxnSp>
        <p:nvCxnSpPr>
          <p:cNvPr id="17" name="AutoShape 19"/>
          <p:cNvCxnSpPr>
            <a:cxnSpLocks noChangeShapeType="1"/>
          </p:cNvCxnSpPr>
          <p:nvPr/>
        </p:nvCxnSpPr>
        <p:spPr bwMode="auto">
          <a:xfrm>
            <a:off x="2145701" y="4202113"/>
            <a:ext cx="0" cy="1828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827584" y="4648200"/>
            <a:ext cx="28300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1800" dirty="0"/>
              <a:t>Direction </a:t>
            </a:r>
            <a:r>
              <a:rPr lang="en-US" altLang="en-US" dirty="0"/>
              <a:t> </a:t>
            </a:r>
            <a:r>
              <a:rPr lang="en-US" altLang="en-US" sz="1800" dirty="0" smtClean="0"/>
              <a:t>of   Stack growth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9343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0945" y="10308"/>
            <a:ext cx="8208912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altLang="en-US" sz="3800" dirty="0" smtClean="0"/>
          </a:p>
          <a:p>
            <a:pPr marL="742950" indent="-742950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altLang="en-US" sz="3800" dirty="0" smtClean="0"/>
              <a:t>The </a:t>
            </a:r>
            <a:r>
              <a:rPr lang="en-US" altLang="en-US" sz="3800" dirty="0"/>
              <a:t>general idea is to overflow a buffer so that it overwrites the return address</a:t>
            </a:r>
            <a:r>
              <a:rPr lang="en-US" altLang="en-US" sz="3800" dirty="0" smtClean="0"/>
              <a:t>.</a:t>
            </a:r>
          </a:p>
          <a:p>
            <a:endParaRPr lang="en-US" altLang="en-US" sz="3800" dirty="0" smtClean="0"/>
          </a:p>
          <a:p>
            <a:pPr marL="571500" indent="-571500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altLang="en-US" sz="3800" dirty="0" smtClean="0"/>
              <a:t>When </a:t>
            </a:r>
            <a:r>
              <a:rPr lang="en-US" altLang="en-US" sz="3800" dirty="0"/>
              <a:t>the function is done it will jump to whatever address is on the stack</a:t>
            </a:r>
            <a:r>
              <a:rPr lang="en-US" altLang="en-US" sz="3800" dirty="0" smtClean="0"/>
              <a:t>.</a:t>
            </a:r>
          </a:p>
          <a:p>
            <a:endParaRPr lang="en-US" altLang="en-US" sz="3800" dirty="0" smtClean="0"/>
          </a:p>
          <a:p>
            <a:pPr marL="742950" indent="-742950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altLang="en-US" sz="3800" dirty="0" smtClean="0"/>
              <a:t>We </a:t>
            </a:r>
            <a:r>
              <a:rPr lang="en-US" altLang="en-US" sz="3800" dirty="0"/>
              <a:t>put some code in the buffer and set the return address to point to it!</a:t>
            </a:r>
          </a:p>
        </p:txBody>
      </p:sp>
    </p:spTree>
    <p:extLst>
      <p:ext uri="{BB962C8B-B14F-4D97-AF65-F5344CB8AC3E}">
        <p14:creationId xmlns:p14="http://schemas.microsoft.com/office/powerpoint/2010/main" val="1895775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/>
          <a:p>
            <a:r>
              <a:rPr lang="en-US" altLang="en-US"/>
              <a:t>Breno de Medeiros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/>
          <a:p>
            <a:r>
              <a:rPr lang="en-US" altLang="en-US"/>
              <a:t>Florida State University</a:t>
            </a:r>
          </a:p>
          <a:p>
            <a:r>
              <a:rPr lang="en-US" altLang="en-US"/>
              <a:t>Fall 2005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685800" y="352424"/>
            <a:ext cx="77724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altLang="en-US" sz="4800" u="sng" dirty="0"/>
              <a:t>Memory management</a:t>
            </a: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4648200" y="1981200"/>
            <a:ext cx="4038600" cy="4114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smtClean="0"/>
              <a:t>The stack, which contains activation frames, starts at the highest memory address allocated for the process, and grows downwards</a:t>
            </a:r>
          </a:p>
          <a:p>
            <a:r>
              <a:rPr lang="en-US" altLang="en-US" sz="2000" smtClean="0"/>
              <a:t>Variable-length data (e.g., strings) that are read dynamically, are kept in the heap, which grows upwards</a:t>
            </a:r>
          </a:p>
          <a:p>
            <a:r>
              <a:rPr lang="en-US" altLang="en-US" sz="2000" smtClean="0"/>
              <a:t>This arrangement maximizes flexibility of virtual memory management</a:t>
            </a:r>
            <a:endParaRPr lang="en-US" altLang="en-US" sz="2800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685800" y="1509712"/>
            <a:ext cx="3111608" cy="45720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dirty="0"/>
              <a:t>Stack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685800" y="4191000"/>
            <a:ext cx="3124200" cy="380999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dirty="0"/>
              <a:t>Heap</a:t>
            </a: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685800" y="4572000"/>
            <a:ext cx="3124200" cy="45720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unitialized variables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685800" y="5029200"/>
            <a:ext cx="3124200" cy="45720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initialized variables</a:t>
            </a: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685800" y="5486400"/>
            <a:ext cx="3124200" cy="45720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code instructions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690356" y="2997957"/>
            <a:ext cx="3124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" name="Rectangle 27"/>
          <p:cNvSpPr/>
          <p:nvPr/>
        </p:nvSpPr>
        <p:spPr>
          <a:xfrm>
            <a:off x="662411" y="1981201"/>
            <a:ext cx="3124200" cy="2209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45460" y="2183090"/>
            <a:ext cx="2592288" cy="36933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en-US" dirty="0"/>
              <a:t>Direction of  stack growth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460" y="3676382"/>
            <a:ext cx="2592288" cy="36933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en-US" dirty="0"/>
              <a:t>Direction of  heap growth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2241604" y="2552422"/>
            <a:ext cx="0" cy="6741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1907704" y="3068960"/>
            <a:ext cx="0" cy="6074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253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905000" y="6248400"/>
            <a:ext cx="4648200" cy="457200"/>
          </a:xfrm>
        </p:spPr>
        <p:txBody>
          <a:bodyPr/>
          <a:lstStyle/>
          <a:p>
            <a:r>
              <a:rPr lang="en-US" altLang="en-US"/>
              <a:t>Netprog: Buffer Overflow</a:t>
            </a:r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fld id="{E45AD2EC-30BD-4514-9A24-CC68E2C9159B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67544" y="381000"/>
            <a:ext cx="4419600" cy="13159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altLang="en-US" sz="4400" u="sng" dirty="0" smtClean="0"/>
              <a:t>Before and After</a:t>
            </a:r>
            <a:endParaRPr lang="en-US" altLang="en-US" sz="4400" u="sng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181600" y="631434"/>
            <a:ext cx="3654425" cy="17716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en-US">
                <a:solidFill>
                  <a:schemeClr val="bg2"/>
                </a:solidFill>
                <a:latin typeface="Courier New" pitchFamily="49" charset="0"/>
              </a:rPr>
              <a:t>void foo(char *s) {</a:t>
            </a:r>
          </a:p>
          <a:p>
            <a:pPr>
              <a:spcBef>
                <a:spcPct val="20000"/>
              </a:spcBef>
            </a:pPr>
            <a:r>
              <a:rPr lang="en-US" altLang="en-US">
                <a:solidFill>
                  <a:schemeClr val="bg2"/>
                </a:solidFill>
                <a:latin typeface="Courier New" pitchFamily="49" charset="0"/>
              </a:rPr>
              <a:t>	char buf[100];</a:t>
            </a:r>
          </a:p>
          <a:p>
            <a:pPr>
              <a:spcBef>
                <a:spcPct val="20000"/>
              </a:spcBef>
            </a:pPr>
            <a:r>
              <a:rPr lang="en-US" altLang="en-US">
                <a:solidFill>
                  <a:schemeClr val="bg2"/>
                </a:solidFill>
                <a:latin typeface="Courier New" pitchFamily="49" charset="0"/>
              </a:rPr>
              <a:t>	strcpy(buf,s);</a:t>
            </a:r>
          </a:p>
          <a:p>
            <a:pPr>
              <a:spcBef>
                <a:spcPct val="20000"/>
              </a:spcBef>
            </a:pPr>
            <a:r>
              <a:rPr lang="en-US" altLang="en-US">
                <a:solidFill>
                  <a:schemeClr val="bg2"/>
                </a:solidFill>
                <a:latin typeface="Courier New" pitchFamily="49" charset="0"/>
              </a:rPr>
              <a:t>	…</a:t>
            </a:r>
            <a:endParaRPr lang="en-US" altLang="en-US">
              <a:latin typeface="Courier New" pitchFamily="49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295400" y="2438400"/>
            <a:ext cx="2590800" cy="609600"/>
          </a:xfrm>
          <a:prstGeom prst="rect">
            <a:avLst/>
          </a:prstGeom>
          <a:solidFill>
            <a:srgbClr val="00FF99"/>
          </a:solidFill>
          <a:ln w="5715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en-US" dirty="0">
                <a:solidFill>
                  <a:schemeClr val="bg2"/>
                </a:solidFill>
              </a:rPr>
              <a:t>address of </a:t>
            </a:r>
            <a:r>
              <a:rPr lang="en-US" altLang="en-US" sz="3200" dirty="0" smtClean="0">
                <a:solidFill>
                  <a:schemeClr val="bg2"/>
                </a:solidFill>
                <a:latin typeface="Courier New" pitchFamily="49" charset="0"/>
              </a:rPr>
              <a:t>s</a:t>
            </a:r>
            <a:endParaRPr lang="en-US" altLang="en-US" sz="3200" dirty="0">
              <a:solidFill>
                <a:schemeClr val="bg2"/>
              </a:solidFill>
              <a:latin typeface="Courier New" pitchFamily="49" charset="0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295400" y="3048000"/>
            <a:ext cx="2590800" cy="609600"/>
          </a:xfrm>
          <a:prstGeom prst="rect">
            <a:avLst/>
          </a:prstGeom>
          <a:solidFill>
            <a:schemeClr val="accent1"/>
          </a:solidFill>
          <a:ln w="5715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en-US">
                <a:solidFill>
                  <a:schemeClr val="bg2"/>
                </a:solidFill>
              </a:rPr>
              <a:t>return-address</a:t>
            </a:r>
            <a:endParaRPr lang="en-US" altLang="en-US" sz="3200">
              <a:solidFill>
                <a:schemeClr val="bg2"/>
              </a:solidFill>
              <a:latin typeface="Courier New" pitchFamily="49" charset="0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295400" y="3657600"/>
            <a:ext cx="2590800" cy="6096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en-US">
                <a:solidFill>
                  <a:schemeClr val="bg2"/>
                </a:solidFill>
              </a:rPr>
              <a:t>saved sp</a:t>
            </a:r>
            <a:endParaRPr lang="en-US" altLang="en-US" sz="3200">
              <a:solidFill>
                <a:schemeClr val="bg2"/>
              </a:solidFill>
              <a:latin typeface="Courier New" pitchFamily="49" charset="0"/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295400" y="4267200"/>
            <a:ext cx="2590800" cy="182880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20000"/>
              </a:spcBef>
            </a:pPr>
            <a:endParaRPr lang="en-US" altLang="en-US">
              <a:solidFill>
                <a:schemeClr val="bg2"/>
              </a:solidFill>
            </a:endParaRPr>
          </a:p>
          <a:p>
            <a:pPr algn="ctr">
              <a:spcBef>
                <a:spcPct val="20000"/>
              </a:spcBef>
            </a:pPr>
            <a:r>
              <a:rPr lang="en-US" altLang="en-US">
                <a:solidFill>
                  <a:schemeClr val="bg2"/>
                </a:solidFill>
              </a:rPr>
              <a:t>buf</a:t>
            </a:r>
            <a:endParaRPr lang="en-US" altLang="en-US" sz="3200">
              <a:solidFill>
                <a:schemeClr val="bg2"/>
              </a:solidFill>
              <a:latin typeface="Courier New" pitchFamily="49" charset="0"/>
            </a:endParaRP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4191000" y="2438400"/>
            <a:ext cx="2590800" cy="609600"/>
          </a:xfrm>
          <a:prstGeom prst="rect">
            <a:avLst/>
          </a:prstGeom>
          <a:solidFill>
            <a:srgbClr val="00FF99"/>
          </a:solidFill>
          <a:ln w="5715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en-US">
                <a:solidFill>
                  <a:schemeClr val="bg2"/>
                </a:solidFill>
              </a:rPr>
              <a:t>address of </a:t>
            </a:r>
            <a:r>
              <a:rPr lang="en-US" altLang="en-US" sz="3200">
                <a:solidFill>
                  <a:schemeClr val="bg2"/>
                </a:solidFill>
                <a:latin typeface="Courier New" pitchFamily="49" charset="0"/>
              </a:rPr>
              <a:t>s</a:t>
            </a: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4191000" y="3048000"/>
            <a:ext cx="2590800" cy="3048000"/>
          </a:xfrm>
          <a:prstGeom prst="rect">
            <a:avLst/>
          </a:prstGeom>
          <a:solidFill>
            <a:srgbClr val="DDDDDD"/>
          </a:solidFill>
          <a:ln w="5715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en-US">
                <a:solidFill>
                  <a:schemeClr val="bg2"/>
                </a:solidFill>
              </a:rPr>
              <a:t>pointer to pgm</a:t>
            </a:r>
          </a:p>
          <a:p>
            <a:pPr algn="ctr">
              <a:spcBef>
                <a:spcPct val="20000"/>
              </a:spcBef>
            </a:pPr>
            <a:endParaRPr lang="en-US" altLang="en-US">
              <a:solidFill>
                <a:schemeClr val="bg2"/>
              </a:solidFill>
            </a:endParaRPr>
          </a:p>
          <a:p>
            <a:pPr algn="ctr">
              <a:spcBef>
                <a:spcPct val="20000"/>
              </a:spcBef>
            </a:pPr>
            <a:endParaRPr lang="en-US" altLang="en-US">
              <a:solidFill>
                <a:schemeClr val="bg2"/>
              </a:solidFill>
            </a:endParaRPr>
          </a:p>
          <a:p>
            <a:pPr algn="ctr">
              <a:spcBef>
                <a:spcPct val="20000"/>
              </a:spcBef>
            </a:pPr>
            <a:endParaRPr lang="en-US" altLang="en-US">
              <a:solidFill>
                <a:schemeClr val="bg2"/>
              </a:solidFill>
            </a:endParaRPr>
          </a:p>
          <a:p>
            <a:pPr algn="ctr">
              <a:spcBef>
                <a:spcPct val="20000"/>
              </a:spcBef>
            </a:pPr>
            <a:endParaRPr lang="en-US" altLang="en-US">
              <a:solidFill>
                <a:schemeClr val="bg2"/>
              </a:solidFill>
            </a:endParaRPr>
          </a:p>
          <a:p>
            <a:pPr algn="ctr">
              <a:spcBef>
                <a:spcPct val="20000"/>
              </a:spcBef>
            </a:pPr>
            <a:r>
              <a:rPr lang="en-US" altLang="en-US">
                <a:solidFill>
                  <a:schemeClr val="bg2"/>
                </a:solidFill>
              </a:rPr>
              <a:t>Small Program</a:t>
            </a:r>
          </a:p>
        </p:txBody>
      </p:sp>
      <p:sp>
        <p:nvSpPr>
          <p:cNvPr id="12" name="Freeform 19"/>
          <p:cNvSpPr>
            <a:spLocks/>
          </p:cNvSpPr>
          <p:nvPr/>
        </p:nvSpPr>
        <p:spPr bwMode="auto">
          <a:xfrm>
            <a:off x="6683375" y="3086100"/>
            <a:ext cx="1196975" cy="2833688"/>
          </a:xfrm>
          <a:custGeom>
            <a:avLst/>
            <a:gdLst>
              <a:gd name="T0" fmla="*/ 78 w 754"/>
              <a:gd name="T1" fmla="*/ 161 h 1785"/>
              <a:gd name="T2" fmla="*/ 661 w 754"/>
              <a:gd name="T3" fmla="*/ 232 h 1785"/>
              <a:gd name="T4" fmla="*/ 638 w 754"/>
              <a:gd name="T5" fmla="*/ 1552 h 1785"/>
              <a:gd name="T6" fmla="*/ 0 w 754"/>
              <a:gd name="T7" fmla="*/ 1633 h 17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54" h="1785">
                <a:moveTo>
                  <a:pt x="78" y="161"/>
                </a:moveTo>
                <a:cubicBezTo>
                  <a:pt x="176" y="173"/>
                  <a:pt x="568" y="0"/>
                  <a:pt x="661" y="232"/>
                </a:cubicBezTo>
                <a:cubicBezTo>
                  <a:pt x="754" y="464"/>
                  <a:pt x="748" y="1319"/>
                  <a:pt x="638" y="1552"/>
                </a:cubicBezTo>
                <a:cubicBezTo>
                  <a:pt x="528" y="1785"/>
                  <a:pt x="133" y="1616"/>
                  <a:pt x="0" y="1633"/>
                </a:cubicBezTo>
              </a:path>
            </a:pathLst>
          </a:custGeom>
          <a:noFill/>
          <a:ln w="76200" cmpd="sng">
            <a:solidFill>
              <a:schemeClr val="tx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85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exploit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7544" y="494012"/>
            <a:ext cx="3168352" cy="518892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" name="Picture 16" descr="exploit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78433" y="304800"/>
            <a:ext cx="3963930" cy="5867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" name="Picture 10" descr="exploit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7544" y="275843"/>
            <a:ext cx="3886200" cy="5867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Text Box 20"/>
          <p:cNvSpPr txBox="1">
            <a:spLocks noChangeArrowheads="1"/>
          </p:cNvSpPr>
          <p:nvPr/>
        </p:nvSpPr>
        <p:spPr bwMode="auto">
          <a:xfrm>
            <a:off x="381000" y="6324600"/>
            <a:ext cx="39624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 dirty="0" smtClean="0">
                <a:latin typeface="Adobe Gothic Std B" pitchFamily="34" charset="-128"/>
                <a:ea typeface="Adobe Gothic Std B" pitchFamily="34" charset="-128"/>
              </a:rPr>
              <a:t>             (</a:t>
            </a:r>
            <a:r>
              <a:rPr lang="en-US" altLang="en-US" sz="2000" b="1" dirty="0" err="1">
                <a:latin typeface="Adobe Gothic Std B" pitchFamily="34" charset="-128"/>
                <a:ea typeface="Adobe Gothic Std B" pitchFamily="34" charset="-128"/>
              </a:rPr>
              <a:t>i</a:t>
            </a:r>
            <a:r>
              <a:rPr lang="en-US" altLang="en-US" sz="2000" b="1" dirty="0">
                <a:latin typeface="Adobe Gothic Std B" pitchFamily="34" charset="-128"/>
                <a:ea typeface="Adobe Gothic Std B" pitchFamily="34" charset="-128"/>
              </a:rPr>
              <a:t>) </a:t>
            </a:r>
            <a:r>
              <a:rPr lang="en-US" altLang="en-US" sz="2000" b="1" dirty="0" smtClean="0">
                <a:latin typeface="Adobe Gothic Std B" pitchFamily="34" charset="-128"/>
                <a:ea typeface="Adobe Gothic Std B" pitchFamily="34" charset="-128"/>
              </a:rPr>
              <a:t> Before </a:t>
            </a:r>
            <a:r>
              <a:rPr lang="en-US" altLang="en-US" sz="2000" b="1" dirty="0"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en-US" sz="2000" b="1" dirty="0" smtClean="0">
                <a:latin typeface="Adobe Gothic Std B" pitchFamily="34" charset="-128"/>
                <a:ea typeface="Adobe Gothic Std B" pitchFamily="34" charset="-128"/>
              </a:rPr>
              <a:t>attack </a:t>
            </a:r>
            <a:endParaRPr lang="en-US" altLang="en-US" sz="2000" b="1" dirty="0"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7" name="Text Box 21"/>
          <p:cNvSpPr txBox="1">
            <a:spLocks noChangeArrowheads="1"/>
          </p:cNvSpPr>
          <p:nvPr/>
        </p:nvSpPr>
        <p:spPr bwMode="auto">
          <a:xfrm>
            <a:off x="4648200" y="6324600"/>
            <a:ext cx="4267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 dirty="0" smtClean="0">
                <a:latin typeface="Adobe Gothic Std B" pitchFamily="34" charset="-128"/>
                <a:ea typeface="Adobe Gothic Std B" pitchFamily="34" charset="-128"/>
              </a:rPr>
              <a:t> (</a:t>
            </a:r>
            <a:r>
              <a:rPr lang="en-US" altLang="en-US" sz="2000" b="1" dirty="0">
                <a:latin typeface="Adobe Gothic Std B" pitchFamily="34" charset="-128"/>
                <a:ea typeface="Adobe Gothic Std B" pitchFamily="34" charset="-128"/>
              </a:rPr>
              <a:t>ii)  </a:t>
            </a:r>
            <a:r>
              <a:rPr lang="en-US" altLang="en-US" sz="2000" b="1" dirty="0" smtClean="0">
                <a:latin typeface="Adobe Gothic Std B" pitchFamily="34" charset="-128"/>
                <a:ea typeface="Adobe Gothic Std B" pitchFamily="34" charset="-128"/>
              </a:rPr>
              <a:t>After </a:t>
            </a:r>
            <a:r>
              <a:rPr lang="en-US" altLang="en-US" sz="2000" b="1" dirty="0">
                <a:latin typeface="Adobe Gothic Std B" pitchFamily="34" charset="-128"/>
                <a:ea typeface="Adobe Gothic Std B" pitchFamily="34" charset="-128"/>
              </a:rPr>
              <a:t>injecting the </a:t>
            </a:r>
            <a:r>
              <a:rPr lang="en-US" altLang="en-US" sz="2000" b="1" dirty="0" smtClean="0">
                <a:latin typeface="Adobe Gothic Std B" pitchFamily="34" charset="-128"/>
                <a:ea typeface="Adobe Gothic Std B" pitchFamily="34" charset="-128"/>
              </a:rPr>
              <a:t> attack </a:t>
            </a:r>
            <a:r>
              <a:rPr lang="en-US" altLang="en-US" sz="2000" b="1" dirty="0">
                <a:latin typeface="Adobe Gothic Std B" pitchFamily="34" charset="-128"/>
                <a:ea typeface="Adobe Gothic Std B" pitchFamily="34" charset="-128"/>
              </a:rPr>
              <a:t>code </a:t>
            </a:r>
          </a:p>
        </p:txBody>
      </p:sp>
    </p:spTree>
    <p:extLst>
      <p:ext uri="{BB962C8B-B14F-4D97-AF65-F5344CB8AC3E}">
        <p14:creationId xmlns:p14="http://schemas.microsoft.com/office/powerpoint/2010/main" val="2818269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exploit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536" y="404664"/>
            <a:ext cx="4495800" cy="6096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4906931" y="618699"/>
            <a:ext cx="3886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dirty="0" smtClean="0">
                <a:latin typeface="Adobe Gothic Std B" pitchFamily="34" charset="-128"/>
                <a:ea typeface="Adobe Gothic Std B" pitchFamily="34" charset="-128"/>
              </a:rPr>
              <a:t>   (iii)  Executing </a:t>
            </a:r>
            <a:r>
              <a:rPr lang="en-US" altLang="en-US" sz="2000" dirty="0">
                <a:latin typeface="Adobe Gothic Std B" pitchFamily="34" charset="-128"/>
                <a:ea typeface="Adobe Gothic Std B" pitchFamily="34" charset="-128"/>
              </a:rPr>
              <a:t>the attack code </a:t>
            </a:r>
          </a:p>
        </p:txBody>
      </p:sp>
    </p:spTree>
    <p:extLst>
      <p:ext uri="{BB962C8B-B14F-4D97-AF65-F5344CB8AC3E}">
        <p14:creationId xmlns:p14="http://schemas.microsoft.com/office/powerpoint/2010/main" val="883571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026" y="324207"/>
            <a:ext cx="7922840" cy="724942"/>
          </a:xfrm>
        </p:spPr>
        <p:txBody>
          <a:bodyPr/>
          <a:lstStyle/>
          <a:p>
            <a:r>
              <a:rPr lang="en-IN" sz="4600" u="sng" dirty="0" smtClean="0"/>
              <a:t>STACK OVERFLOW Example</a:t>
            </a:r>
            <a:endParaRPr lang="en-IN" sz="4600" u="sng" dirty="0"/>
          </a:p>
        </p:txBody>
      </p:sp>
      <p:graphicFrame>
        <p:nvGraphicFramePr>
          <p:cNvPr id="7" name="Content Placeholder 6"/>
          <p:cNvGraphicFramePr>
            <a:graphicFrameLocks noGrp="1" noChangeAspect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693829834"/>
              </p:ext>
            </p:extLst>
          </p:nvPr>
        </p:nvGraphicFramePr>
        <p:xfrm>
          <a:off x="611560" y="1124744"/>
          <a:ext cx="8064896" cy="5184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Document" r:id="rId3" imgW="5648040" imgH="4125600" progId="Word.Document.8">
                  <p:embed/>
                </p:oleObj>
              </mc:Choice>
              <mc:Fallback>
                <p:oleObj name="Document" r:id="rId3" imgW="5648040" imgH="4125600" progId="Word.Document.8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1124744"/>
                        <a:ext cx="8064896" cy="51845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0078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8000" u="sng" dirty="0" smtClean="0"/>
              <a:t>OUTPUT</a:t>
            </a:r>
            <a:endParaRPr lang="en-IN" sz="8000" u="sng" dirty="0"/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828531701"/>
              </p:ext>
            </p:extLst>
          </p:nvPr>
        </p:nvGraphicFramePr>
        <p:xfrm>
          <a:off x="611560" y="1628800"/>
          <a:ext cx="8064896" cy="4464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Document" r:id="rId3" imgW="5638800" imgH="3149600" progId="Word.Document.8">
                  <p:embed/>
                </p:oleObj>
              </mc:Choice>
              <mc:Fallback>
                <p:oleObj name="Document" r:id="rId3" imgW="5638800" imgH="3149600" progId="Word.Document.8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1628800"/>
                        <a:ext cx="8064896" cy="44644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5033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/>
            <a:r>
              <a:rPr lang="en-US" altLang="en-US" sz="4000" u="sng" dirty="0" smtClean="0"/>
              <a:t>Common Unsafe C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95536" y="1782400"/>
            <a:ext cx="8352927" cy="42484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750109" y="1844824"/>
            <a:ext cx="7494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9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949575"/>
            <a:ext cx="7771398" cy="2207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899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6000" u="sng" dirty="0" smtClean="0"/>
              <a:t>CASE STUDY</a:t>
            </a:r>
            <a:endParaRPr lang="en-IN" sz="60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952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4400" u="sng" dirty="0"/>
              <a:t>Buffer Overflow Defenses</a:t>
            </a:r>
            <a:endParaRPr lang="en-IN" sz="44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sz="2900" dirty="0"/>
              <a:t>Buffer overflows are widely </a:t>
            </a:r>
            <a:r>
              <a:rPr lang="en-US" altLang="en-US" sz="2900" dirty="0" smtClean="0"/>
              <a:t>exploited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900" dirty="0" smtClean="0"/>
              <a:t>Large amount of vulnerable code in use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900" dirty="0" smtClean="0"/>
              <a:t>  despite </a:t>
            </a:r>
            <a:r>
              <a:rPr lang="en-US" altLang="en-US" sz="2900" dirty="0"/>
              <a:t>cause and countermeasures known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900" dirty="0"/>
              <a:t>Two broad defense approaches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900" dirty="0" smtClean="0"/>
              <a:t> compile-time </a:t>
            </a:r>
            <a:r>
              <a:rPr lang="en-US" altLang="en-US" sz="2900" dirty="0"/>
              <a:t>- harden new programs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900" dirty="0" smtClean="0"/>
              <a:t> run-time </a:t>
            </a:r>
            <a:r>
              <a:rPr lang="en-US" altLang="en-US" sz="2900" dirty="0"/>
              <a:t>- handle attacks on </a:t>
            </a:r>
            <a:r>
              <a:rPr lang="en-US" altLang="en-US" sz="2900" dirty="0" smtClean="0"/>
              <a:t>existing      programs </a:t>
            </a:r>
            <a:endParaRPr lang="en-IN" sz="2900" dirty="0"/>
          </a:p>
        </p:txBody>
      </p:sp>
    </p:spTree>
    <p:extLst>
      <p:ext uri="{BB962C8B-B14F-4D97-AF65-F5344CB8AC3E}">
        <p14:creationId xmlns:p14="http://schemas.microsoft.com/office/powerpoint/2010/main" val="31158783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03648" y="116632"/>
            <a:ext cx="6647620" cy="109282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4800" u="sng" dirty="0">
                <a:solidFill>
                  <a:schemeClr val="tx1"/>
                </a:solidFill>
              </a:rPr>
              <a:t>Compile-Time </a:t>
            </a:r>
            <a:r>
              <a:rPr lang="en-US" altLang="en-US" sz="4800" u="sng" dirty="0" smtClean="0">
                <a:solidFill>
                  <a:schemeClr val="tx1"/>
                </a:solidFill>
              </a:rPr>
              <a:t>Defenses</a:t>
            </a:r>
            <a:endParaRPr lang="en-IN" sz="4800" u="sng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504" y="1552436"/>
            <a:ext cx="7056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altLang="en-US" sz="4400" u="sng" dirty="0" smtClean="0"/>
              <a:t>   Safe </a:t>
            </a:r>
            <a:r>
              <a:rPr lang="en-US" altLang="en-US" sz="4400" u="sng" dirty="0"/>
              <a:t>Coding Techniques</a:t>
            </a:r>
            <a:endParaRPr lang="en-IN" sz="4400" u="sng" dirty="0"/>
          </a:p>
        </p:txBody>
      </p:sp>
      <p:sp>
        <p:nvSpPr>
          <p:cNvPr id="7" name="Rectangle 6"/>
          <p:cNvSpPr/>
          <p:nvPr/>
        </p:nvSpPr>
        <p:spPr>
          <a:xfrm>
            <a:off x="251520" y="2348880"/>
            <a:ext cx="757033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dirty="0"/>
              <a:t>If using potentially unsafe languages </a:t>
            </a:r>
            <a:r>
              <a:rPr lang="en-US" altLang="en-US" sz="2400" dirty="0" smtClean="0"/>
              <a:t>.</a:t>
            </a:r>
          </a:p>
          <a:p>
            <a:r>
              <a:rPr lang="en-US" altLang="en-US" sz="2400" dirty="0"/>
              <a:t> </a:t>
            </a:r>
            <a:r>
              <a:rPr lang="en-US" altLang="en-US" sz="2400" dirty="0" smtClean="0"/>
              <a:t>          </a:t>
            </a:r>
            <a:r>
              <a:rPr lang="en-US" altLang="en-US" sz="2400" dirty="0" err="1" smtClean="0"/>
              <a:t>Eg</a:t>
            </a:r>
            <a:r>
              <a:rPr lang="en-US" altLang="en-US" sz="2400" dirty="0" smtClean="0"/>
              <a:t> :- C</a:t>
            </a:r>
            <a:endParaRPr lang="en-US" alt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dirty="0"/>
              <a:t>Programmer must explicitly write safe code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altLang="en-US" sz="2400" dirty="0"/>
              <a:t>by design with new </a:t>
            </a:r>
            <a:r>
              <a:rPr lang="en-US" altLang="en-US" sz="2400" dirty="0" smtClean="0"/>
              <a:t>code.</a:t>
            </a:r>
            <a:endParaRPr lang="en-US" altLang="en-US" sz="2400" dirty="0"/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altLang="en-US" sz="2400" b="1" i="1" dirty="0"/>
              <a:t>extensive after code review </a:t>
            </a:r>
            <a:r>
              <a:rPr lang="en-US" altLang="en-US" sz="2400" dirty="0"/>
              <a:t>of existing code, (e.g., </a:t>
            </a:r>
            <a:r>
              <a:rPr lang="en-US" altLang="en-US" sz="2400" dirty="0" err="1"/>
              <a:t>OpenBSD</a:t>
            </a:r>
            <a:r>
              <a:rPr lang="en-US" altLang="en-US" sz="2400" dirty="0" smtClean="0"/>
              <a:t>).</a:t>
            </a:r>
            <a:endParaRPr lang="en-US" alt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dirty="0"/>
              <a:t>Buffer overflow safety a subset of general safe coding techniques </a:t>
            </a:r>
            <a:r>
              <a:rPr lang="en-US" altLang="en-US" sz="2400" dirty="0" smtClean="0"/>
              <a:t>.</a:t>
            </a:r>
            <a:endParaRPr lang="en-US" alt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dirty="0"/>
              <a:t>Allow for graceful failure </a:t>
            </a:r>
            <a:r>
              <a:rPr lang="en-US" altLang="en-US" sz="2400" b="1" i="1" dirty="0"/>
              <a:t>(know how things may go </a:t>
            </a:r>
            <a:r>
              <a:rPr lang="en-US" altLang="en-US" sz="2400" b="1" i="1" dirty="0" smtClean="0"/>
              <a:t>wrong) </a:t>
            </a:r>
            <a:r>
              <a:rPr lang="en-US" altLang="en-US" sz="2400" dirty="0" smtClean="0"/>
              <a:t>check </a:t>
            </a:r>
            <a:r>
              <a:rPr lang="en-US" altLang="en-US" sz="2400" dirty="0"/>
              <a:t>for sufficient space in any </a:t>
            </a:r>
            <a:r>
              <a:rPr lang="en-US" altLang="en-US" sz="2400" dirty="0" smtClean="0"/>
              <a:t>buffer.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02598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620688"/>
            <a:ext cx="826726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00050" indent="-400050">
              <a:buFont typeface="Wingdings" panose="05000000000000000000" pitchFamily="2" charset="2"/>
              <a:buChar char="q"/>
            </a:pPr>
            <a:r>
              <a:rPr lang="en-US" altLang="en-US" sz="4400" u="sng" dirty="0" smtClean="0"/>
              <a:t>  Language</a:t>
            </a:r>
            <a:r>
              <a:rPr lang="en-US" altLang="en-US" sz="4000" u="sng" dirty="0" smtClean="0"/>
              <a:t> </a:t>
            </a:r>
            <a:r>
              <a:rPr lang="en-US" altLang="en-US" sz="4000" u="sng" dirty="0"/>
              <a:t>Extension, Safe Libraries</a:t>
            </a:r>
            <a:endParaRPr lang="en-IN" sz="4000" u="sng" dirty="0"/>
          </a:p>
        </p:txBody>
      </p:sp>
      <p:sp>
        <p:nvSpPr>
          <p:cNvPr id="3" name="Rectangle 2"/>
          <p:cNvSpPr/>
          <p:nvPr/>
        </p:nvSpPr>
        <p:spPr>
          <a:xfrm>
            <a:off x="611560" y="1844824"/>
            <a:ext cx="813690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3000" dirty="0"/>
              <a:t>Proposals for safety extensions (</a:t>
            </a:r>
            <a:r>
              <a:rPr lang="en-US" altLang="en-US" sz="3000" dirty="0" smtClean="0"/>
              <a:t>library replacements</a:t>
            </a:r>
            <a:r>
              <a:rPr lang="en-US" altLang="en-US" sz="3000" dirty="0"/>
              <a:t>) to </a:t>
            </a:r>
            <a:r>
              <a:rPr lang="en-US" altLang="en-US" sz="3000" dirty="0" smtClean="0"/>
              <a:t>C  performance penalties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altLang="en-US" sz="3000" dirty="0" smtClean="0"/>
              <a:t>must </a:t>
            </a:r>
            <a:r>
              <a:rPr lang="en-US" altLang="en-US" sz="3000" dirty="0"/>
              <a:t>compile programs with special compiler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3000" dirty="0"/>
              <a:t>Several safer standard library </a:t>
            </a:r>
            <a:r>
              <a:rPr lang="en-US" altLang="en-US" sz="3000" dirty="0" smtClean="0"/>
              <a:t>variants </a:t>
            </a:r>
          </a:p>
          <a:p>
            <a:r>
              <a:rPr lang="en-US" altLang="en-US" sz="3000" dirty="0" smtClean="0"/>
              <a:t>          1.) New functions, e.g. </a:t>
            </a:r>
            <a:r>
              <a:rPr lang="en-US" altLang="en-US" sz="3000" dirty="0" err="1" smtClean="0"/>
              <a:t>strlcpy</a:t>
            </a:r>
            <a:r>
              <a:rPr lang="en-US" altLang="en-US" sz="3000" dirty="0" smtClean="0"/>
              <a:t>() </a:t>
            </a:r>
          </a:p>
          <a:p>
            <a:r>
              <a:rPr lang="en-US" altLang="en-US" sz="3000" dirty="0" smtClean="0"/>
              <a:t>          2.)safer re-implementation   of standard   </a:t>
            </a:r>
          </a:p>
          <a:p>
            <a:r>
              <a:rPr lang="en-US" altLang="en-US" sz="3000" dirty="0"/>
              <a:t> </a:t>
            </a:r>
            <a:r>
              <a:rPr lang="en-US" altLang="en-US" sz="3000" dirty="0" smtClean="0"/>
              <a:t>               functions as a dynamic library,   </a:t>
            </a:r>
          </a:p>
          <a:p>
            <a:r>
              <a:rPr lang="en-US" altLang="en-US" sz="3000" dirty="0"/>
              <a:t> </a:t>
            </a:r>
            <a:r>
              <a:rPr lang="en-US" altLang="en-US" sz="3000" dirty="0" smtClean="0"/>
              <a:t>               e.g. </a:t>
            </a:r>
            <a:r>
              <a:rPr lang="en-US" altLang="en-US" sz="3000" dirty="0" err="1" smtClean="0"/>
              <a:t>Libsafe</a:t>
            </a:r>
            <a:endParaRPr lang="en-US" altLang="en-US" sz="3000" dirty="0"/>
          </a:p>
        </p:txBody>
      </p:sp>
    </p:spTree>
    <p:extLst>
      <p:ext uri="{BB962C8B-B14F-4D97-AF65-F5344CB8AC3E}">
        <p14:creationId xmlns:p14="http://schemas.microsoft.com/office/powerpoint/2010/main" val="2571298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altLang="en-US" sz="4400" u="sng" dirty="0" smtClean="0"/>
              <a:t>  Stack </a:t>
            </a:r>
            <a:r>
              <a:rPr lang="en-US" altLang="en-US" sz="4400" u="sng" dirty="0"/>
              <a:t>Protection</a:t>
            </a:r>
            <a:endParaRPr lang="en-IN" sz="44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sz="2200" dirty="0" smtClean="0"/>
              <a:t> </a:t>
            </a:r>
            <a:r>
              <a:rPr lang="en-US" altLang="en-US" sz="2200" dirty="0" err="1" smtClean="0"/>
              <a:t>Stackgaurd</a:t>
            </a:r>
            <a:r>
              <a:rPr lang="en-US" altLang="en-US" sz="2200" dirty="0"/>
              <a:t>: add function entry and exit </a:t>
            </a:r>
            <a:r>
              <a:rPr lang="en-US" altLang="en-US" sz="2200" dirty="0" smtClean="0"/>
              <a:t>code to check   </a:t>
            </a:r>
          </a:p>
          <a:p>
            <a:pPr marL="0" indent="0">
              <a:buNone/>
            </a:pPr>
            <a:r>
              <a:rPr lang="en-US" altLang="en-US" sz="2200" dirty="0" smtClean="0"/>
              <a:t>      stack </a:t>
            </a:r>
            <a:r>
              <a:rPr lang="en-US" altLang="en-US" sz="2200" dirty="0"/>
              <a:t>for signs of corruption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00" dirty="0"/>
              <a:t>Use random canary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00" dirty="0" smtClean="0"/>
              <a:t>  e.g</a:t>
            </a:r>
            <a:r>
              <a:rPr lang="en-US" altLang="en-US" sz="2200" dirty="0"/>
              <a:t>. </a:t>
            </a:r>
            <a:r>
              <a:rPr lang="en-US" altLang="en-US" sz="2300" dirty="0" err="1"/>
              <a:t>Stackguard</a:t>
            </a:r>
            <a:r>
              <a:rPr lang="en-US" altLang="en-US" sz="2200" dirty="0"/>
              <a:t>, Win/GS, GCC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00" dirty="0" smtClean="0"/>
              <a:t> check </a:t>
            </a:r>
            <a:r>
              <a:rPr lang="en-US" altLang="en-US" sz="2200" dirty="0"/>
              <a:t>for overwrite between local variables and saved frame pointer and return address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00" dirty="0"/>
              <a:t>abort program if change found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00" dirty="0"/>
              <a:t>issues: recompilation, debugger support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200" dirty="0"/>
              <a:t>Or save/check safe copy of return address (in a safe, non-corruptible memory area), e.g. </a:t>
            </a:r>
            <a:r>
              <a:rPr lang="en-US" altLang="en-US" sz="2200" dirty="0" err="1"/>
              <a:t>Stackshield</a:t>
            </a:r>
            <a:r>
              <a:rPr lang="en-US" altLang="en-US" sz="2200" dirty="0"/>
              <a:t>, RAD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766276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664" y="260648"/>
            <a:ext cx="5256584" cy="10801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4800" u="sng" dirty="0" smtClean="0"/>
          </a:p>
          <a:p>
            <a:pPr algn="ctr"/>
            <a:r>
              <a:rPr lang="en-US" altLang="en-US" sz="4800" u="sng" dirty="0" smtClean="0">
                <a:solidFill>
                  <a:schemeClr val="tx1"/>
                </a:solidFill>
              </a:rPr>
              <a:t>Run-Time</a:t>
            </a:r>
            <a:r>
              <a:rPr lang="en-US" altLang="en-US" sz="4800" u="sng" dirty="0" smtClean="0"/>
              <a:t> Defenses</a:t>
            </a:r>
            <a:r>
              <a:rPr lang="en-US" altLang="en-US" sz="4800" u="sng" dirty="0"/>
              <a:t/>
            </a:r>
            <a:br>
              <a:rPr lang="en-US" altLang="en-US" sz="4800" u="sng" dirty="0"/>
            </a:br>
            <a:endParaRPr lang="en-IN" sz="4800" u="sng" dirty="0"/>
          </a:p>
        </p:txBody>
      </p:sp>
      <p:sp>
        <p:nvSpPr>
          <p:cNvPr id="3" name="Rectangle 2"/>
          <p:cNvSpPr/>
          <p:nvPr/>
        </p:nvSpPr>
        <p:spPr>
          <a:xfrm>
            <a:off x="323528" y="1772816"/>
            <a:ext cx="57386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altLang="en-US" sz="3200" u="sng" dirty="0"/>
              <a:t>Non Executable Address Space</a:t>
            </a:r>
            <a:endParaRPr lang="en-IN" sz="3200" u="sng" dirty="0"/>
          </a:p>
        </p:txBody>
      </p:sp>
      <p:sp>
        <p:nvSpPr>
          <p:cNvPr id="4" name="Rectangle 3"/>
          <p:cNvSpPr/>
          <p:nvPr/>
        </p:nvSpPr>
        <p:spPr>
          <a:xfrm>
            <a:off x="611560" y="2357591"/>
            <a:ext cx="8208911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dirty="0"/>
              <a:t>Many BO attacks copy machine code into buffer and </a:t>
            </a:r>
            <a:r>
              <a:rPr lang="en-US" altLang="en-US" sz="2400" dirty="0" err="1"/>
              <a:t>xfer</a:t>
            </a:r>
            <a:r>
              <a:rPr lang="en-US" altLang="en-US" sz="2400" dirty="0"/>
              <a:t> ctrl to it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dirty="0"/>
              <a:t>Use virtual memory support to make some regions of memory non-executable (to avoid exec of attacker’s code)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en-US" sz="2000" dirty="0" smtClean="0"/>
              <a:t> e.g</a:t>
            </a:r>
            <a:r>
              <a:rPr lang="en-US" altLang="en-US" sz="2000" dirty="0"/>
              <a:t>. stack, heap, global </a:t>
            </a:r>
            <a:r>
              <a:rPr lang="en-US" altLang="en-US" sz="2000" dirty="0" smtClean="0"/>
              <a:t>data </a:t>
            </a:r>
            <a:endParaRPr lang="en-US" altLang="en-US" sz="2000" dirty="0"/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en-US" sz="2000" dirty="0" smtClean="0"/>
              <a:t> need </a:t>
            </a:r>
            <a:r>
              <a:rPr lang="en-US" altLang="en-US" sz="2000" dirty="0"/>
              <a:t>h/w support in MMU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en-US" sz="2000" dirty="0" smtClean="0"/>
              <a:t> long </a:t>
            </a:r>
            <a:r>
              <a:rPr lang="en-US" altLang="en-US" sz="2000" dirty="0"/>
              <a:t>existed on SPARC/Solaris systems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en-US" sz="2000" dirty="0" smtClean="0"/>
              <a:t> recent </a:t>
            </a:r>
            <a:r>
              <a:rPr lang="en-US" altLang="en-US" sz="2000" dirty="0"/>
              <a:t>on x86 Linux/Unix/Windows systems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dirty="0"/>
              <a:t>Issues: support for executable stack code</a:t>
            </a:r>
          </a:p>
        </p:txBody>
      </p:sp>
    </p:spTree>
    <p:extLst>
      <p:ext uri="{BB962C8B-B14F-4D97-AF65-F5344CB8AC3E}">
        <p14:creationId xmlns:p14="http://schemas.microsoft.com/office/powerpoint/2010/main" val="3626645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493221"/>
            <a:ext cx="397948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en-US" sz="4800" u="sng" dirty="0" smtClean="0"/>
              <a:t> Guard </a:t>
            </a:r>
            <a:r>
              <a:rPr lang="en-US" altLang="en-US" sz="4800" u="sng" dirty="0"/>
              <a:t>Pages</a:t>
            </a:r>
            <a:endParaRPr lang="en-IN" sz="4800" u="sng" dirty="0"/>
          </a:p>
        </p:txBody>
      </p:sp>
      <p:sp>
        <p:nvSpPr>
          <p:cNvPr id="3" name="Rectangle 2"/>
          <p:cNvSpPr/>
          <p:nvPr/>
        </p:nvSpPr>
        <p:spPr>
          <a:xfrm>
            <a:off x="467544" y="1556792"/>
            <a:ext cx="8208912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en-US" sz="3200" dirty="0"/>
              <a:t>Place guard pages between critical regions of memory (or between stack frames)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altLang="en-US" sz="3200" dirty="0" smtClean="0"/>
              <a:t>  flagged </a:t>
            </a:r>
            <a:r>
              <a:rPr lang="en-US" altLang="en-US" sz="3200" dirty="0"/>
              <a:t>in MMU (mem </a:t>
            </a:r>
            <a:r>
              <a:rPr lang="en-US" altLang="en-US" sz="3200" dirty="0" err="1"/>
              <a:t>mgmt</a:t>
            </a:r>
            <a:r>
              <a:rPr lang="en-US" altLang="en-US" sz="3200" dirty="0"/>
              <a:t> unit) as </a:t>
            </a:r>
            <a:r>
              <a:rPr lang="en-US" altLang="en-US" sz="3200" dirty="0" smtClean="0"/>
              <a:t> illegal </a:t>
            </a:r>
            <a:r>
              <a:rPr lang="en-US" altLang="en-US" sz="3200" dirty="0"/>
              <a:t>addresses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altLang="en-US" sz="3200" dirty="0" smtClean="0"/>
              <a:t>  any </a:t>
            </a:r>
            <a:r>
              <a:rPr lang="en-US" altLang="en-US" sz="3200" dirty="0"/>
              <a:t>access aborts process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en-US" sz="3200" dirty="0"/>
              <a:t>Can even place between stack frames and heap buffers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altLang="en-US" sz="3200" dirty="0"/>
              <a:t>at execution time and space cost</a:t>
            </a:r>
          </a:p>
        </p:txBody>
      </p:sp>
    </p:spTree>
    <p:extLst>
      <p:ext uri="{BB962C8B-B14F-4D97-AF65-F5344CB8AC3E}">
        <p14:creationId xmlns:p14="http://schemas.microsoft.com/office/powerpoint/2010/main" val="852366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57200" y="404664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en-US" sz="4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Other Overflow Attacks</a:t>
            </a:r>
            <a:endParaRPr lang="en-US" altLang="en-US" sz="4400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57200" y="1676400"/>
            <a:ext cx="8229600" cy="5181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altLang="en-US" sz="2400" dirty="0" smtClean="0"/>
              <a:t>have a range of other attack variants</a:t>
            </a:r>
          </a:p>
          <a:p>
            <a:pPr lvl="1"/>
            <a:r>
              <a:rPr lang="en-US" altLang="en-US" sz="2400" dirty="0" smtClean="0"/>
              <a:t>Stack overflow variants.</a:t>
            </a:r>
          </a:p>
          <a:p>
            <a:pPr lvl="1"/>
            <a:r>
              <a:rPr lang="en-US" altLang="en-US" sz="2400" dirty="0"/>
              <a:t>H</a:t>
            </a:r>
            <a:r>
              <a:rPr lang="en-US" altLang="en-US" sz="2400" dirty="0" smtClean="0"/>
              <a:t>eap overflow</a:t>
            </a:r>
          </a:p>
          <a:p>
            <a:pPr lvl="1"/>
            <a:r>
              <a:rPr lang="en-US" altLang="en-US" sz="2400" dirty="0" smtClean="0"/>
              <a:t>Global data overflow</a:t>
            </a:r>
          </a:p>
          <a:p>
            <a:pPr lvl="1"/>
            <a:r>
              <a:rPr lang="en-US" altLang="en-US" sz="2400" dirty="0"/>
              <a:t>F</a:t>
            </a:r>
            <a:r>
              <a:rPr lang="en-US" altLang="en-US" sz="2400" dirty="0" smtClean="0"/>
              <a:t>ormat string overflow</a:t>
            </a:r>
          </a:p>
          <a:p>
            <a:pPr lvl="1"/>
            <a:r>
              <a:rPr lang="en-US" altLang="en-US" sz="2400" dirty="0"/>
              <a:t>I</a:t>
            </a:r>
            <a:r>
              <a:rPr lang="en-US" altLang="en-US" sz="2400" dirty="0" smtClean="0"/>
              <a:t>nteger overflow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400" dirty="0" smtClean="0"/>
              <a:t>more likely to be discovered in future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400" dirty="0" smtClean="0"/>
              <a:t>some cannot be prevented except by coding to prevent originally</a:t>
            </a:r>
            <a:endParaRPr lang="en-US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213372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000" u="sng" dirty="0" smtClean="0"/>
              <a:t>CONCLUSION</a:t>
            </a:r>
            <a:endParaRPr lang="en-IN" sz="60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4128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396</TotalTime>
  <Words>905</Words>
  <Application>Microsoft Office PowerPoint</Application>
  <PresentationFormat>On-screen Show (4:3)</PresentationFormat>
  <Paragraphs>153</Paragraphs>
  <Slides>24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Horizon</vt:lpstr>
      <vt:lpstr>Document</vt:lpstr>
      <vt:lpstr>    Buffer Overflows </vt:lpstr>
      <vt:lpstr>BUFFER OVERFLOWS</vt:lpstr>
      <vt:lpstr>ABSTRACT</vt:lpstr>
      <vt:lpstr>Buffer Overflow Basics</vt:lpstr>
      <vt:lpstr>How it works</vt:lpstr>
      <vt:lpstr>Stack Buffer Overflow Basics</vt:lpstr>
      <vt:lpstr>       Stack smashing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STACK OVERFLOW Example</vt:lpstr>
      <vt:lpstr>OUTPUT</vt:lpstr>
      <vt:lpstr>Common Unsafe C Functions</vt:lpstr>
      <vt:lpstr>CASE STUDY</vt:lpstr>
      <vt:lpstr>Buffer Overflow Defenses</vt:lpstr>
      <vt:lpstr>PowerPoint Presentation</vt:lpstr>
      <vt:lpstr>PowerPoint Presentation</vt:lpstr>
      <vt:lpstr>  Stack Protection</vt:lpstr>
      <vt:lpstr>PowerPoint Presentation</vt:lpstr>
      <vt:lpstr>PowerPoint Presentation</vt:lpstr>
      <vt:lpstr>PowerPoint Presentation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Sunil</dc:creator>
  <cp:lastModifiedBy>Sunil</cp:lastModifiedBy>
  <cp:revision>30</cp:revision>
  <dcterms:created xsi:type="dcterms:W3CDTF">2017-03-09T16:48:21Z</dcterms:created>
  <dcterms:modified xsi:type="dcterms:W3CDTF">2017-03-16T11:47:18Z</dcterms:modified>
</cp:coreProperties>
</file>